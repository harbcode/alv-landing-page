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346" r:id="rId5"/>
    <p:sldId id="4682" r:id="rId6"/>
    <p:sldId id="4508" r:id="rId7"/>
    <p:sldId id="4523" r:id="rId8"/>
    <p:sldId id="4524" r:id="rId9"/>
    <p:sldId id="4525" r:id="rId10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orient="horz" pos="3929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82D4F3A-13E8-3CF1-4DD1-5050F43D4876}" name="Mateusz Juraszek" initials="" userId="S::mateusz.juraszek@tiramizoo.de::b5b4bc53-0312-439a-ba5b-3b55f28adb62" providerId="AD"/>
  <p188:author id="{901A8FB2-47FC-4980-3FD2-E1D6BF62B50E}" name="Philipp Walz" initials="PW" userId="S::philipp.walz@tiramizoo.de::400388bf-268f-48f6-843f-dab59afcd88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ilipp Walz" initials="PW" lastIdx="15" clrIdx="0">
    <p:extLst>
      <p:ext uri="{19B8F6BF-5375-455C-9EA6-DF929625EA0E}">
        <p15:presenceInfo xmlns:p15="http://schemas.microsoft.com/office/powerpoint/2012/main" userId="S::philipp.walz@tiramizoo.de::400388bf-268f-48f6-843f-dab59afcd88b" providerId="AD"/>
      </p:ext>
    </p:extLst>
  </p:cmAuthor>
  <p:cmAuthor id="2" name="Marianne Santer" initials="MS" lastIdx="2" clrIdx="1">
    <p:extLst>
      <p:ext uri="{19B8F6BF-5375-455C-9EA6-DF929625EA0E}">
        <p15:presenceInfo xmlns:p15="http://schemas.microsoft.com/office/powerpoint/2012/main" userId="S::marianne.santer@tiramizoo.de::79498cc7-12f2-49f0-8050-a76a36d2e9ca" providerId="AD"/>
      </p:ext>
    </p:extLst>
  </p:cmAuthor>
  <p:cmAuthor id="3" name="Nicole Getman" initials="NG" lastIdx="3" clrIdx="2">
    <p:extLst>
      <p:ext uri="{19B8F6BF-5375-455C-9EA6-DF929625EA0E}">
        <p15:presenceInfo xmlns:p15="http://schemas.microsoft.com/office/powerpoint/2012/main" userId="S::nicole.getman@tiramizoo.de::5e946135-e182-401d-bf85-ecc0be69973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86BC25"/>
    <a:srgbClr val="ECE9EC"/>
    <a:srgbClr val="3C3C3C"/>
    <a:srgbClr val="6F6F6F"/>
    <a:srgbClr val="78697B"/>
    <a:srgbClr val="F2F2F2"/>
    <a:srgbClr val="FFFFFF"/>
    <a:srgbClr val="44546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20F84-6368-3B49-9A74-6EF66CD34C38}" v="6071" dt="2026-01-16T13:02:07.783"/>
    <p1510:client id="{8F6C6871-B75A-C9E3-9ECE-4834AF2DF014}" v="10" dt="2026-01-16T10:26:44.946"/>
    <p1510:client id="{AA968BA2-04F5-DDE3-0022-EC2209852F87}" v="154" dt="2026-01-16T10:04:56.0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96"/>
    <p:restoredTop sz="94694"/>
  </p:normalViewPr>
  <p:slideViewPr>
    <p:cSldViewPr snapToGrid="0">
      <p:cViewPr varScale="1">
        <p:scale>
          <a:sx n="121" d="100"/>
          <a:sy n="121" d="100"/>
        </p:scale>
        <p:origin x="424" y="176"/>
      </p:cViewPr>
      <p:guideLst>
        <p:guide orient="horz" pos="1008"/>
        <p:guide orient="horz" pos="392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6" y="2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D744A-E16D-BE4B-B1CC-E62477CD6E3B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3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6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6E686-B1B9-D040-ACD8-6FA9E128863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7922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6E686-B1B9-D040-ACD8-6FA9E128863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042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2B0C2-9682-013A-1DF0-D20EBD9E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455EB72-46CA-E425-CCC4-C1E2E7EF4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43F77D7-FFF2-807F-B5A8-91D3580E4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A3528B-64EE-D2DD-C347-C8517F398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6E686-B1B9-D040-ACD8-6FA9E128863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0386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DB7E0-4740-1688-33D8-8A571245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D9E9981-21FF-209C-E001-D10DC0AA7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A22FFBF-0C6C-0C4C-1271-493E18E95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709FCD-E64E-4E82-91FC-E528C5BBB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6E686-B1B9-D040-ACD8-6FA9E128863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7145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F4B64-62A6-D1C7-D99B-E0B790A3A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1376350-27AF-B4FB-D262-56C653D12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8D9DC52-4965-3040-A889-112418356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004683-5FAB-66A1-C7C1-D49968FF9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6E686-B1B9-D040-ACD8-6FA9E128863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533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eer - nur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07B94DBD-EE68-48F4-85F3-E2B3E3187FFE}"/>
              </a:ext>
            </a:extLst>
          </p:cNvPr>
          <p:cNvSpPr txBox="1"/>
          <p:nvPr userDrawn="1"/>
        </p:nvSpPr>
        <p:spPr>
          <a:xfrm>
            <a:off x="9804574" y="6435420"/>
            <a:ext cx="1973086" cy="254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50">
                <a:solidFill>
                  <a:srgbClr val="6F6F6F"/>
                </a:solidFill>
                <a:latin typeface="Klavika light"/>
              </a:rPr>
              <a:t>vertraulich </a:t>
            </a:r>
            <a:r>
              <a:rPr lang="de-DE" sz="1050">
                <a:solidFill>
                  <a:srgbClr val="86BC25"/>
                </a:solidFill>
                <a:latin typeface="Klavika light"/>
              </a:rPr>
              <a:t>|</a:t>
            </a:r>
            <a:r>
              <a:rPr lang="de-DE" sz="1050">
                <a:solidFill>
                  <a:srgbClr val="6F6F6F"/>
                </a:solidFill>
                <a:latin typeface="Klavika light"/>
              </a:rPr>
              <a:t> confidential</a:t>
            </a:r>
          </a:p>
        </p:txBody>
      </p:sp>
      <p:sp>
        <p:nvSpPr>
          <p:cNvPr id="8" name="Round Diagonal Corner Rectangle 26">
            <a:extLst>
              <a:ext uri="{FF2B5EF4-FFF2-40B4-BE49-F238E27FC236}">
                <a16:creationId xmlns:a16="http://schemas.microsoft.com/office/drawing/2014/main" id="{16EE5F55-2DCF-4C9E-8D44-760270E6D989}"/>
              </a:ext>
            </a:extLst>
          </p:cNvPr>
          <p:cNvSpPr/>
          <p:nvPr userDrawn="1"/>
        </p:nvSpPr>
        <p:spPr>
          <a:xfrm>
            <a:off x="232125" y="6452133"/>
            <a:ext cx="318738" cy="220652"/>
          </a:xfrm>
          <a:prstGeom prst="round2DiagRect">
            <a:avLst>
              <a:gd name="adj1" fmla="val 21930"/>
              <a:gd name="adj2" fmla="val 0"/>
            </a:avLst>
          </a:prstGeom>
          <a:solidFill>
            <a:srgbClr val="86BC25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fld id="{7CCFB7CF-E7DE-4940-B2A8-24D9037B6645}" type="slidenum">
              <a:rPr kumimoji="0" lang="de-DE" sz="1000" b="1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Klavika light"/>
                <a:ea typeface="Calibri" panose="020F0502020204030204" pitchFamily="34" charset="0"/>
                <a:cs typeface="Times New Roman" panose="02020603050405020304" pitchFamily="18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1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Klavika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0E836AA8-E05A-40D6-8FC4-4DDA2A816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452" y="6452133"/>
            <a:ext cx="4114800" cy="220652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rgbClr val="6F6F6F"/>
                </a:solidFill>
                <a:latin typeface="Klavika light"/>
              </a:defRPr>
            </a:lvl1pPr>
          </a:lstStyle>
          <a:p>
            <a:r>
              <a:rPr lang="de-DE"/>
              <a:t>Tiramizoo</a:t>
            </a:r>
          </a:p>
        </p:txBody>
      </p:sp>
    </p:spTree>
    <p:extLst>
      <p:ext uri="{BB962C8B-B14F-4D97-AF65-F5344CB8AC3E}">
        <p14:creationId xmlns:p14="http://schemas.microsoft.com/office/powerpoint/2010/main" val="250570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3">
          <p15:clr>
            <a:srgbClr val="FBAE40"/>
          </p15:clr>
        </p15:guide>
        <p15:guide id="2" pos="347">
          <p15:clr>
            <a:srgbClr val="FBAE40"/>
          </p15:clr>
        </p15:guide>
        <p15:guide id="3" pos="7355">
          <p15:clr>
            <a:srgbClr val="FBAE40"/>
          </p15:clr>
        </p15:guide>
        <p15:guide id="4" orient="horz" pos="406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665">
          <p15:clr>
            <a:srgbClr val="FBAE40"/>
          </p15:clr>
        </p15:guide>
        <p15:guide id="7" pos="3840">
          <p15:clr>
            <a:srgbClr val="FBAE40"/>
          </p15:clr>
        </p15:guide>
        <p15:guide id="8" pos="143">
          <p15:clr>
            <a:srgbClr val="FBAE40"/>
          </p15:clr>
        </p15:guide>
        <p15:guide id="9" pos="749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3 Kasten flach - ohne Seitenrä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614366CF-46C4-4241-8BF1-3AFBA31CA2DD}"/>
              </a:ext>
            </a:extLst>
          </p:cNvPr>
          <p:cNvSpPr/>
          <p:nvPr userDrawn="1"/>
        </p:nvSpPr>
        <p:spPr>
          <a:xfrm>
            <a:off x="0" y="1449387"/>
            <a:ext cx="12192000" cy="5003801"/>
          </a:xfrm>
          <a:prstGeom prst="rect">
            <a:avLst/>
          </a:prstGeom>
          <a:solidFill>
            <a:srgbClr val="78697B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F8B9E8A-4BF1-4E11-A086-A654D9E672D9}"/>
              </a:ext>
            </a:extLst>
          </p:cNvPr>
          <p:cNvSpPr txBox="1"/>
          <p:nvPr userDrawn="1"/>
        </p:nvSpPr>
        <p:spPr>
          <a:xfrm>
            <a:off x="9804574" y="6435420"/>
            <a:ext cx="1973086" cy="254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50">
                <a:solidFill>
                  <a:srgbClr val="6F6F6F"/>
                </a:solidFill>
                <a:latin typeface="Klavika light"/>
              </a:rPr>
              <a:t>vertraulich </a:t>
            </a:r>
            <a:r>
              <a:rPr lang="de-DE" sz="1050">
                <a:solidFill>
                  <a:srgbClr val="86BC25"/>
                </a:solidFill>
                <a:latin typeface="Klavika light"/>
              </a:rPr>
              <a:t>|</a:t>
            </a:r>
            <a:r>
              <a:rPr lang="de-DE" sz="1050">
                <a:solidFill>
                  <a:srgbClr val="6F6F6F"/>
                </a:solidFill>
                <a:latin typeface="Klavika light"/>
              </a:rPr>
              <a:t> confidential</a:t>
            </a:r>
          </a:p>
        </p:txBody>
      </p:sp>
      <p:sp>
        <p:nvSpPr>
          <p:cNvPr id="11" name="Round Diagonal Corner Rectangle 26">
            <a:extLst>
              <a:ext uri="{FF2B5EF4-FFF2-40B4-BE49-F238E27FC236}">
                <a16:creationId xmlns:a16="http://schemas.microsoft.com/office/drawing/2014/main" id="{5A7A02EC-3223-4B1D-ADD8-73D2BC848F00}"/>
              </a:ext>
            </a:extLst>
          </p:cNvPr>
          <p:cNvSpPr/>
          <p:nvPr userDrawn="1"/>
        </p:nvSpPr>
        <p:spPr>
          <a:xfrm>
            <a:off x="232125" y="6452133"/>
            <a:ext cx="318738" cy="220652"/>
          </a:xfrm>
          <a:prstGeom prst="round2DiagRect">
            <a:avLst>
              <a:gd name="adj1" fmla="val 21930"/>
              <a:gd name="adj2" fmla="val 0"/>
            </a:avLst>
          </a:prstGeom>
          <a:solidFill>
            <a:srgbClr val="86BC25">
              <a:alpha val="5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fld id="{7CCFB7CF-E7DE-4940-B2A8-24D9037B6645}" type="slidenum">
              <a:rPr kumimoji="0" lang="de-DE" sz="1000" b="1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Klavika light"/>
                <a:ea typeface="Calibri" panose="020F0502020204030204" pitchFamily="34" charset="0"/>
                <a:cs typeface="Times New Roman" panose="02020603050405020304" pitchFamily="18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1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Klavika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4DBBE043-439D-43BB-B830-373C47DA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452" y="6452133"/>
            <a:ext cx="4114800" cy="220652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rgbClr val="6F6F6F"/>
                </a:solidFill>
                <a:latin typeface="Klavika light"/>
              </a:defRPr>
            </a:lvl1pPr>
          </a:lstStyle>
          <a:p>
            <a:r>
              <a:rPr lang="de-DE"/>
              <a:t>Tiramizoo</a:t>
            </a:r>
          </a:p>
        </p:txBody>
      </p:sp>
    </p:spTree>
    <p:extLst>
      <p:ext uri="{BB962C8B-B14F-4D97-AF65-F5344CB8AC3E}">
        <p14:creationId xmlns:p14="http://schemas.microsoft.com/office/powerpoint/2010/main" val="889472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3">
          <p15:clr>
            <a:srgbClr val="FBAE40"/>
          </p15:clr>
        </p15:guide>
        <p15:guide id="2" pos="347">
          <p15:clr>
            <a:srgbClr val="FBAE40"/>
          </p15:clr>
        </p15:guide>
        <p15:guide id="3" pos="7355">
          <p15:clr>
            <a:srgbClr val="FBAE40"/>
          </p15:clr>
        </p15:guide>
        <p15:guide id="4" orient="horz" pos="406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665">
          <p15:clr>
            <a:srgbClr val="FBAE40"/>
          </p15:clr>
        </p15:guide>
        <p15:guide id="7" pos="3840">
          <p15:clr>
            <a:srgbClr val="FBAE40"/>
          </p15:clr>
        </p15:guide>
        <p15:guide id="8" pos="143">
          <p15:clr>
            <a:srgbClr val="FBAE40"/>
          </p15:clr>
        </p15:guide>
        <p15:guide id="9" pos="749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type="title">
  <p:cSld name="Titelfoli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363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 Verbindung 2">
            <a:extLst>
              <a:ext uri="{FF2B5EF4-FFF2-40B4-BE49-F238E27FC236}">
                <a16:creationId xmlns:a16="http://schemas.microsoft.com/office/drawing/2014/main" id="{D3388EED-79B4-4C11-90D9-4D6863AA41D2}"/>
              </a:ext>
            </a:extLst>
          </p:cNvPr>
          <p:cNvCxnSpPr>
            <a:cxnSpLocks/>
          </p:cNvCxnSpPr>
          <p:nvPr userDrawn="1"/>
        </p:nvCxnSpPr>
        <p:spPr>
          <a:xfrm>
            <a:off x="-190500" y="549275"/>
            <a:ext cx="12573000" cy="0"/>
          </a:xfrm>
          <a:prstGeom prst="line">
            <a:avLst/>
          </a:prstGeom>
          <a:ln w="19050">
            <a:solidFill>
              <a:srgbClr val="86BC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18">
            <a:extLst>
              <a:ext uri="{FF2B5EF4-FFF2-40B4-BE49-F238E27FC236}">
                <a16:creationId xmlns:a16="http://schemas.microsoft.com/office/drawing/2014/main" id="{3EDF6544-4840-427B-B38A-B65B1217BE3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344473" y="90630"/>
            <a:ext cx="1613253" cy="37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6" r:id="rId2"/>
    <p:sldLayoutId id="2147483667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3253DFF-8DEE-4AFF-9EA0-5AD3E2755B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27792"/>
            <a:ext cx="12788900" cy="93726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863DF4AC-1B20-524E-A76C-CD0817542396}"/>
              </a:ext>
            </a:extLst>
          </p:cNvPr>
          <p:cNvSpPr/>
          <p:nvPr/>
        </p:nvSpPr>
        <p:spPr>
          <a:xfrm>
            <a:off x="484044" y="3728506"/>
            <a:ext cx="10858847" cy="19205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90000"/>
              </a:lnSpc>
            </a:pPr>
            <a:r>
              <a:rPr lang="de-DE" sz="4400" dirty="0">
                <a:latin typeface="Source Sans Pro Light"/>
                <a:ea typeface="Source Sans Pro SemiBold"/>
              </a:rPr>
              <a:t>tiramizoo</a:t>
            </a:r>
            <a:br>
              <a:rPr lang="de-DE" sz="4400" b="1" dirty="0">
                <a:latin typeface="Source Sans Pro SemiBold" panose="020B0503030403020204" pitchFamily="34" charset="0"/>
                <a:ea typeface="Source Sans Pro SemiBold" panose="020B0503030403020204" pitchFamily="34" charset="0"/>
              </a:rPr>
            </a:br>
            <a:r>
              <a:rPr lang="en-US" sz="4400" b="1" dirty="0">
                <a:latin typeface="Source Sans Pro Semibold"/>
                <a:ea typeface="Source Sans Pro SemiBold"/>
              </a:rPr>
              <a:t>Titel</a:t>
            </a:r>
          </a:p>
          <a:p>
            <a:pPr>
              <a:lnSpc>
                <a:spcPct val="90000"/>
              </a:lnSpc>
            </a:pPr>
            <a:r>
              <a:rPr lang="en-US" sz="4400" b="1" dirty="0">
                <a:latin typeface="Source Sans Pro Semibold"/>
                <a:ea typeface="Source Sans Pro SemiBold"/>
              </a:rPr>
              <a:t>Datum </a:t>
            </a:r>
          </a:p>
        </p:txBody>
      </p:sp>
    </p:spTree>
    <p:extLst>
      <p:ext uri="{BB962C8B-B14F-4D97-AF65-F5344CB8AC3E}">
        <p14:creationId xmlns:p14="http://schemas.microsoft.com/office/powerpoint/2010/main" val="1101375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32F06A2-D21D-64F5-B548-A873EC5A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Tiramizoo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8693AC-201E-1824-C224-15A269D6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92" y="-93478"/>
            <a:ext cx="12039600" cy="739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3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cs typeface="Arial"/>
              </a:rPr>
              <a:t>Agenda:</a:t>
            </a:r>
          </a:p>
        </p:txBody>
      </p:sp>
    </p:spTree>
    <p:extLst>
      <p:ext uri="{BB962C8B-B14F-4D97-AF65-F5344CB8AC3E}">
        <p14:creationId xmlns:p14="http://schemas.microsoft.com/office/powerpoint/2010/main" val="1713184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8FA72-E778-537D-DFE4-F5288BBA5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1">
            <a:extLst>
              <a:ext uri="{FF2B5EF4-FFF2-40B4-BE49-F238E27FC236}">
                <a16:creationId xmlns:a16="http://schemas.microsoft.com/office/drawing/2014/main" id="{9163CADC-B77B-ADF6-622A-1F38B083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452" y="6452133"/>
            <a:ext cx="4114800" cy="220652"/>
          </a:xfrm>
        </p:spPr>
        <p:txBody>
          <a:bodyPr/>
          <a:lstStyle/>
          <a:p>
            <a:r>
              <a:rPr lang="de-DE"/>
              <a:t>Tiramizoo</a:t>
            </a:r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D0A0C13D-99E0-C315-2998-19572F872318}"/>
              </a:ext>
            </a:extLst>
          </p:cNvPr>
          <p:cNvSpPr txBox="1">
            <a:spLocks/>
          </p:cNvSpPr>
          <p:nvPr/>
        </p:nvSpPr>
        <p:spPr>
          <a:xfrm>
            <a:off x="561257" y="1000187"/>
            <a:ext cx="11114806" cy="444889"/>
          </a:xfrm>
          <a:prstGeom prst="rect">
            <a:avLst/>
          </a:prstGeom>
        </p:spPr>
        <p:txBody>
          <a:bodyPr vert="horz" lIns="0" tIns="45720" rIns="91440" bIns="45720" rtlCol="0" anchor="t" anchorCtr="0">
            <a:no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rgbClr val="3C3C3C"/>
                </a:solidFill>
                <a:latin typeface="Klavika medium"/>
                <a:ea typeface="+mj-ea"/>
                <a:cs typeface="+mj-cs"/>
              </a:defRPr>
            </a:lvl1pPr>
          </a:lstStyle>
          <a:p>
            <a:r>
              <a:rPr lang="de-DE" dirty="0"/>
              <a:t>TRMZ </a:t>
            </a:r>
            <a:r>
              <a:rPr lang="de-DE" dirty="0" err="1"/>
              <a:t>consulting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understanding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relevant </a:t>
            </a:r>
            <a:r>
              <a:rPr lang="de-DE" dirty="0" err="1"/>
              <a:t>requirements</a:t>
            </a:r>
            <a:endParaRPr lang="de-DE" dirty="0"/>
          </a:p>
        </p:txBody>
      </p:sp>
      <p:sp>
        <p:nvSpPr>
          <p:cNvPr id="3" name="Rounded Rectangle 15">
            <a:extLst>
              <a:ext uri="{FF2B5EF4-FFF2-40B4-BE49-F238E27FC236}">
                <a16:creationId xmlns:a16="http://schemas.microsoft.com/office/drawing/2014/main" id="{DF95F8AD-934D-61B9-4F6F-3E995A7DF76D}"/>
              </a:ext>
            </a:extLst>
          </p:cNvPr>
          <p:cNvSpPr/>
          <p:nvPr/>
        </p:nvSpPr>
        <p:spPr>
          <a:xfrm>
            <a:off x="638452" y="1761058"/>
            <a:ext cx="10813503" cy="3502919"/>
          </a:xfrm>
          <a:prstGeom prst="roundRect">
            <a:avLst>
              <a:gd name="adj" fmla="val 9314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endParaRPr lang="en-US" sz="2200" i="0">
              <a:solidFill>
                <a:srgbClr val="141415"/>
              </a:solidFill>
              <a:effectLst/>
              <a:latin typeface="Klavika light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ED31567-879F-F967-B27D-A757689FDDD4}"/>
              </a:ext>
            </a:extLst>
          </p:cNvPr>
          <p:cNvSpPr txBox="1">
            <a:spLocks/>
          </p:cNvSpPr>
          <p:nvPr/>
        </p:nvSpPr>
        <p:spPr>
          <a:xfrm>
            <a:off x="554869" y="162000"/>
            <a:ext cx="6858464" cy="444888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000" b="1">
                <a:solidFill>
                  <a:srgbClr val="3C3C3C"/>
                </a:solidFill>
                <a:latin typeface="Klavika medium"/>
                <a:ea typeface="Source Sans Pro SemiBold" panose="020B0503030403020204" pitchFamily="34" charset="0"/>
                <a:cs typeface="+mj-cs"/>
              </a:defRPr>
            </a:lvl1pPr>
          </a:lstStyle>
          <a:p>
            <a:pPr marL="457200" indent="-457200">
              <a:buClr>
                <a:srgbClr val="86BC25"/>
              </a:buClr>
              <a:buFont typeface="+mj-lt"/>
              <a:buAutoNum type="arabicPeriod" startAt="2"/>
            </a:pPr>
            <a:r>
              <a:rPr lang="de-DE"/>
              <a:t>MAIN TASKS</a:t>
            </a:r>
          </a:p>
          <a:p>
            <a:pPr marL="457200" indent="-457200">
              <a:buClr>
                <a:srgbClr val="86BC25"/>
              </a:buClr>
              <a:buFont typeface="+mj-lt"/>
              <a:buAutoNum type="arabicPeriod" startAt="2"/>
            </a:pPr>
            <a:endParaRPr lang="de-DE"/>
          </a:p>
        </p:txBody>
      </p:sp>
      <p:sp>
        <p:nvSpPr>
          <p:cNvPr id="31" name="Freihandform 30">
            <a:extLst>
              <a:ext uri="{FF2B5EF4-FFF2-40B4-BE49-F238E27FC236}">
                <a16:creationId xmlns:a16="http://schemas.microsoft.com/office/drawing/2014/main" id="{C595AB49-7FBF-C647-C6A3-20DFFC983D94}"/>
              </a:ext>
            </a:extLst>
          </p:cNvPr>
          <p:cNvSpPr/>
          <p:nvPr/>
        </p:nvSpPr>
        <p:spPr>
          <a:xfrm>
            <a:off x="1648415" y="3258754"/>
            <a:ext cx="8387542" cy="2245345"/>
          </a:xfrm>
          <a:custGeom>
            <a:avLst/>
            <a:gdLst>
              <a:gd name="connsiteX0" fmla="*/ 0 w 8387542"/>
              <a:gd name="connsiteY0" fmla="*/ 2238586 h 2245345"/>
              <a:gd name="connsiteX1" fmla="*/ 498764 w 8387542"/>
              <a:gd name="connsiteY1" fmla="*/ 2230273 h 2245345"/>
              <a:gd name="connsiteX2" fmla="*/ 972589 w 8387542"/>
              <a:gd name="connsiteY2" fmla="*/ 2105583 h 2245345"/>
              <a:gd name="connsiteX3" fmla="*/ 1571106 w 8387542"/>
              <a:gd name="connsiteY3" fmla="*/ 1822950 h 2245345"/>
              <a:gd name="connsiteX4" fmla="*/ 2344189 w 8387542"/>
              <a:gd name="connsiteY4" fmla="*/ 1399001 h 2245345"/>
              <a:gd name="connsiteX5" fmla="*/ 2801389 w 8387542"/>
              <a:gd name="connsiteY5" fmla="*/ 1124681 h 2245345"/>
              <a:gd name="connsiteX6" fmla="*/ 3657600 w 8387542"/>
              <a:gd name="connsiteY6" fmla="*/ 600979 h 2245345"/>
              <a:gd name="connsiteX7" fmla="*/ 4164676 w 8387542"/>
              <a:gd name="connsiteY7" fmla="*/ 351597 h 2245345"/>
              <a:gd name="connsiteX8" fmla="*/ 4746567 w 8387542"/>
              <a:gd name="connsiteY8" fmla="*/ 118841 h 2245345"/>
              <a:gd name="connsiteX9" fmla="*/ 5203767 w 8387542"/>
              <a:gd name="connsiteY9" fmla="*/ 35713 h 2245345"/>
              <a:gd name="connsiteX10" fmla="*/ 6001789 w 8387542"/>
              <a:gd name="connsiteY10" fmla="*/ 2463 h 2245345"/>
              <a:gd name="connsiteX11" fmla="*/ 7198822 w 8387542"/>
              <a:gd name="connsiteY11" fmla="*/ 2463 h 2245345"/>
              <a:gd name="connsiteX12" fmla="*/ 8387542 w 8387542"/>
              <a:gd name="connsiteY12" fmla="*/ 2463 h 2245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387542" h="2245345">
                <a:moveTo>
                  <a:pt x="0" y="2238586"/>
                </a:moveTo>
                <a:cubicBezTo>
                  <a:pt x="168333" y="2245513"/>
                  <a:pt x="336666" y="2252440"/>
                  <a:pt x="498764" y="2230273"/>
                </a:cubicBezTo>
                <a:cubicBezTo>
                  <a:pt x="660862" y="2208106"/>
                  <a:pt x="793865" y="2173470"/>
                  <a:pt x="972589" y="2105583"/>
                </a:cubicBezTo>
                <a:cubicBezTo>
                  <a:pt x="1151313" y="2037696"/>
                  <a:pt x="1342506" y="1940714"/>
                  <a:pt x="1571106" y="1822950"/>
                </a:cubicBezTo>
                <a:cubicBezTo>
                  <a:pt x="1799706" y="1705186"/>
                  <a:pt x="2139142" y="1515379"/>
                  <a:pt x="2344189" y="1399001"/>
                </a:cubicBezTo>
                <a:cubicBezTo>
                  <a:pt x="2549236" y="1282623"/>
                  <a:pt x="2801389" y="1124681"/>
                  <a:pt x="2801389" y="1124681"/>
                </a:cubicBezTo>
                <a:cubicBezTo>
                  <a:pt x="3020291" y="991677"/>
                  <a:pt x="3430386" y="729826"/>
                  <a:pt x="3657600" y="600979"/>
                </a:cubicBezTo>
                <a:cubicBezTo>
                  <a:pt x="3884815" y="472132"/>
                  <a:pt x="3983182" y="431953"/>
                  <a:pt x="4164676" y="351597"/>
                </a:cubicBezTo>
                <a:cubicBezTo>
                  <a:pt x="4346170" y="271241"/>
                  <a:pt x="4573385" y="171488"/>
                  <a:pt x="4746567" y="118841"/>
                </a:cubicBezTo>
                <a:cubicBezTo>
                  <a:pt x="4919749" y="66194"/>
                  <a:pt x="4994563" y="55109"/>
                  <a:pt x="5203767" y="35713"/>
                </a:cubicBezTo>
                <a:cubicBezTo>
                  <a:pt x="5412971" y="16317"/>
                  <a:pt x="5669280" y="8005"/>
                  <a:pt x="6001789" y="2463"/>
                </a:cubicBezTo>
                <a:cubicBezTo>
                  <a:pt x="6334298" y="-3079"/>
                  <a:pt x="7198822" y="2463"/>
                  <a:pt x="7198822" y="2463"/>
                </a:cubicBezTo>
                <a:lnTo>
                  <a:pt x="8387542" y="2463"/>
                </a:ln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bg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9A922DA-EA9E-01DE-BB62-66034498ADCE}"/>
              </a:ext>
            </a:extLst>
          </p:cNvPr>
          <p:cNvSpPr/>
          <p:nvPr/>
        </p:nvSpPr>
        <p:spPr>
          <a:xfrm>
            <a:off x="6649904" y="3082492"/>
            <a:ext cx="1230283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err="1"/>
              <a:t>Configuration</a:t>
            </a:r>
            <a:endParaRPr lang="de-DE" sz="120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F3CF6A7-07F6-C08A-7DD6-C78C407AA5D9}"/>
              </a:ext>
            </a:extLst>
          </p:cNvPr>
          <p:cNvSpPr/>
          <p:nvPr/>
        </p:nvSpPr>
        <p:spPr>
          <a:xfrm>
            <a:off x="9715507" y="3071717"/>
            <a:ext cx="2109159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SAAS Start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9A0A08F-53CD-FF56-04B3-FB03FC413B12}"/>
              </a:ext>
            </a:extLst>
          </p:cNvPr>
          <p:cNvSpPr/>
          <p:nvPr/>
        </p:nvSpPr>
        <p:spPr>
          <a:xfrm>
            <a:off x="6504020" y="2932792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5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B582C1DF-5DA4-D925-FFE4-94655632EB2B}"/>
              </a:ext>
            </a:extLst>
          </p:cNvPr>
          <p:cNvSpPr/>
          <p:nvPr/>
        </p:nvSpPr>
        <p:spPr>
          <a:xfrm>
            <a:off x="3019493" y="4747782"/>
            <a:ext cx="1313411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Analysis </a:t>
            </a:r>
            <a:r>
              <a:rPr lang="de-DE" sz="1000" err="1"/>
              <a:t>of</a:t>
            </a:r>
            <a:r>
              <a:rPr lang="de-DE" sz="1000"/>
              <a:t> </a:t>
            </a:r>
            <a:r>
              <a:rPr lang="de-DE" sz="1000" err="1"/>
              <a:t>customer</a:t>
            </a:r>
            <a:r>
              <a:rPr lang="de-DE" sz="1000"/>
              <a:t> </a:t>
            </a:r>
            <a:r>
              <a:rPr lang="de-DE" sz="1000" err="1"/>
              <a:t>Requirements</a:t>
            </a:r>
            <a:r>
              <a:rPr lang="de-DE" sz="1000"/>
              <a:t> &amp; KPIs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1B8B7609-C79B-919A-6C86-077A4A394B52}"/>
              </a:ext>
            </a:extLst>
          </p:cNvPr>
          <p:cNvSpPr/>
          <p:nvPr/>
        </p:nvSpPr>
        <p:spPr>
          <a:xfrm>
            <a:off x="4895616" y="3500131"/>
            <a:ext cx="1230283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Solution </a:t>
            </a:r>
            <a:r>
              <a:rPr lang="de-DE" sz="1200" err="1"/>
              <a:t>proposal</a:t>
            </a:r>
            <a:r>
              <a:rPr lang="de-DE" sz="1200"/>
              <a:t> 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BD0FB804-5007-C657-7A18-C85B30700490}"/>
              </a:ext>
            </a:extLst>
          </p:cNvPr>
          <p:cNvSpPr/>
          <p:nvPr/>
        </p:nvSpPr>
        <p:spPr>
          <a:xfrm>
            <a:off x="1706082" y="5326929"/>
            <a:ext cx="1313411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TRMZ Company </a:t>
            </a:r>
            <a:r>
              <a:rPr lang="de-DE" sz="1200" dirty="0" err="1"/>
              <a:t>presentation</a:t>
            </a:r>
            <a:endParaRPr lang="de-DE" sz="1200" dirty="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D7CE735-7491-7352-24D9-B9FBA10AD198}"/>
              </a:ext>
            </a:extLst>
          </p:cNvPr>
          <p:cNvSpPr/>
          <p:nvPr/>
        </p:nvSpPr>
        <p:spPr>
          <a:xfrm>
            <a:off x="3912781" y="4159183"/>
            <a:ext cx="1313411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TRMZ </a:t>
            </a:r>
            <a:r>
              <a:rPr lang="de-DE" sz="1200" dirty="0" err="1"/>
              <a:t>Product</a:t>
            </a:r>
            <a:r>
              <a:rPr lang="de-DE" sz="1200" dirty="0"/>
              <a:t> </a:t>
            </a:r>
          </a:p>
          <a:p>
            <a:pPr algn="ctr"/>
            <a:r>
              <a:rPr lang="de-DE" sz="1200" dirty="0" err="1"/>
              <a:t>selection</a:t>
            </a:r>
            <a:endParaRPr lang="de-DE" sz="12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FE7D4C6-AA56-EF0F-CCAC-7AF7AB80028A}"/>
              </a:ext>
            </a:extLst>
          </p:cNvPr>
          <p:cNvSpPr/>
          <p:nvPr/>
        </p:nvSpPr>
        <p:spPr>
          <a:xfrm>
            <a:off x="1580681" y="5133144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772ABCE-44CC-02F5-AD63-F724FBF12AA7}"/>
              </a:ext>
            </a:extLst>
          </p:cNvPr>
          <p:cNvSpPr/>
          <p:nvPr/>
        </p:nvSpPr>
        <p:spPr>
          <a:xfrm>
            <a:off x="2839742" y="4576575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2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254671D-7862-EE98-D007-A831D2CC0F78}"/>
              </a:ext>
            </a:extLst>
          </p:cNvPr>
          <p:cNvSpPr/>
          <p:nvPr/>
        </p:nvSpPr>
        <p:spPr>
          <a:xfrm>
            <a:off x="3733031" y="4014954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3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5B223A23-114F-FFE0-7FD1-B4C448337583}"/>
              </a:ext>
            </a:extLst>
          </p:cNvPr>
          <p:cNvSpPr txBox="1"/>
          <p:nvPr/>
        </p:nvSpPr>
        <p:spPr>
          <a:xfrm>
            <a:off x="2418371" y="5678592"/>
            <a:ext cx="739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000">
                <a:solidFill>
                  <a:schemeClr val="bg1">
                    <a:lumMod val="65000"/>
                  </a:schemeClr>
                </a:solidFill>
                <a:latin typeface="Source Sans Pro SemiBold"/>
                <a:ea typeface="Source Sans Pro SemiBold"/>
              </a:defRPr>
            </a:lvl1pPr>
          </a:lstStyle>
          <a:p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5ECD715A-C4CA-C5C8-9CC9-53CD7BB6484F}"/>
              </a:ext>
            </a:extLst>
          </p:cNvPr>
          <p:cNvSpPr txBox="1"/>
          <p:nvPr/>
        </p:nvSpPr>
        <p:spPr>
          <a:xfrm>
            <a:off x="3733031" y="5080730"/>
            <a:ext cx="739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>
                <a:solidFill>
                  <a:schemeClr val="bg1">
                    <a:lumMod val="65000"/>
                  </a:schemeClr>
                </a:solidFill>
                <a:latin typeface="Source Sans Pro SemiBold"/>
                <a:ea typeface="Source Sans Pro SemiBold"/>
              </a:defRPr>
            </a:lvl1pPr>
          </a:lstStyle>
          <a:p>
            <a:endParaRPr lang="de-DE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BD1B2D2-A867-3210-BA0B-5D2DC1C4BF47}"/>
              </a:ext>
            </a:extLst>
          </p:cNvPr>
          <p:cNvSpPr/>
          <p:nvPr/>
        </p:nvSpPr>
        <p:spPr>
          <a:xfrm>
            <a:off x="4781492" y="3303228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4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BC035B5A-5D6B-1150-BD58-767F8A5C3A77}"/>
              </a:ext>
            </a:extLst>
          </p:cNvPr>
          <p:cNvCxnSpPr/>
          <p:nvPr/>
        </p:nvCxnSpPr>
        <p:spPr>
          <a:xfrm>
            <a:off x="1156138" y="6064469"/>
            <a:ext cx="106685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6883D127-50D4-3492-4606-52F6ACEA9D5D}"/>
              </a:ext>
            </a:extLst>
          </p:cNvPr>
          <p:cNvCxnSpPr>
            <a:cxnSpLocks/>
          </p:cNvCxnSpPr>
          <p:nvPr/>
        </p:nvCxnSpPr>
        <p:spPr>
          <a:xfrm flipV="1">
            <a:off x="1308538" y="1761058"/>
            <a:ext cx="0" cy="4455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C31C2F55-2FCB-1183-DBFB-EC9062320E40}"/>
              </a:ext>
            </a:extLst>
          </p:cNvPr>
          <p:cNvSpPr txBox="1"/>
          <p:nvPr/>
        </p:nvSpPr>
        <p:spPr>
          <a:xfrm>
            <a:off x="10562897" y="6064469"/>
            <a:ext cx="977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/>
              <a:t>time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A17F71A-6518-E500-1D7F-0AC1F37D9B2C}"/>
              </a:ext>
            </a:extLst>
          </p:cNvPr>
          <p:cNvSpPr txBox="1"/>
          <p:nvPr/>
        </p:nvSpPr>
        <p:spPr>
          <a:xfrm rot="16200000">
            <a:off x="397107" y="2389038"/>
            <a:ext cx="1468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 err="1"/>
              <a:t>commitment</a:t>
            </a:r>
            <a:endParaRPr lang="de-DE" sz="1400"/>
          </a:p>
        </p:txBody>
      </p:sp>
    </p:spTree>
    <p:extLst>
      <p:ext uri="{BB962C8B-B14F-4D97-AF65-F5344CB8AC3E}">
        <p14:creationId xmlns:p14="http://schemas.microsoft.com/office/powerpoint/2010/main" val="124435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4" grpId="0" animBg="1"/>
      <p:bldP spid="40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2" grpId="0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00315-80E6-BF75-3512-5AA81C52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1">
            <a:extLst>
              <a:ext uri="{FF2B5EF4-FFF2-40B4-BE49-F238E27FC236}">
                <a16:creationId xmlns:a16="http://schemas.microsoft.com/office/drawing/2014/main" id="{41E29BEF-1AF8-9AB9-3B43-F5D392CF5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452" y="6452133"/>
            <a:ext cx="4114800" cy="220652"/>
          </a:xfrm>
        </p:spPr>
        <p:txBody>
          <a:bodyPr/>
          <a:lstStyle/>
          <a:p>
            <a:r>
              <a:rPr lang="de-DE"/>
              <a:t>Tiramizoo</a:t>
            </a:r>
          </a:p>
        </p:txBody>
      </p:sp>
      <p:sp>
        <p:nvSpPr>
          <p:cNvPr id="3" name="Rounded Rectangle 15">
            <a:extLst>
              <a:ext uri="{FF2B5EF4-FFF2-40B4-BE49-F238E27FC236}">
                <a16:creationId xmlns:a16="http://schemas.microsoft.com/office/drawing/2014/main" id="{B84CBAF4-D9A9-1972-19BD-B5FAAC91ACB3}"/>
              </a:ext>
            </a:extLst>
          </p:cNvPr>
          <p:cNvSpPr/>
          <p:nvPr/>
        </p:nvSpPr>
        <p:spPr>
          <a:xfrm>
            <a:off x="638452" y="1761058"/>
            <a:ext cx="10813503" cy="3502919"/>
          </a:xfrm>
          <a:prstGeom prst="roundRect">
            <a:avLst>
              <a:gd name="adj" fmla="val 9314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endParaRPr lang="en-US" sz="2200" i="0">
              <a:solidFill>
                <a:srgbClr val="141415"/>
              </a:solidFill>
              <a:effectLst/>
              <a:latin typeface="Klavika light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FCDE8819-F2C0-42E4-326D-C7007B986439}"/>
              </a:ext>
            </a:extLst>
          </p:cNvPr>
          <p:cNvSpPr txBox="1">
            <a:spLocks/>
          </p:cNvSpPr>
          <p:nvPr/>
        </p:nvSpPr>
        <p:spPr>
          <a:xfrm>
            <a:off x="554869" y="162000"/>
            <a:ext cx="6858464" cy="444888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000" b="1">
                <a:solidFill>
                  <a:srgbClr val="3C3C3C"/>
                </a:solidFill>
                <a:latin typeface="Klavika medium"/>
                <a:ea typeface="Source Sans Pro SemiBold" panose="020B0503030403020204" pitchFamily="34" charset="0"/>
                <a:cs typeface="+mj-cs"/>
              </a:defRPr>
            </a:lvl1pPr>
          </a:lstStyle>
          <a:p>
            <a:pPr marL="457200" indent="-457200">
              <a:buClr>
                <a:srgbClr val="86BC25"/>
              </a:buClr>
              <a:buFont typeface="+mj-lt"/>
              <a:buAutoNum type="arabicPeriod" startAt="2"/>
            </a:pPr>
            <a:r>
              <a:rPr lang="de-DE"/>
              <a:t>MAIN TASKS</a:t>
            </a:r>
          </a:p>
          <a:p>
            <a:pPr marL="457200" indent="-457200">
              <a:buClr>
                <a:srgbClr val="86BC25"/>
              </a:buClr>
              <a:buFont typeface="+mj-lt"/>
              <a:buAutoNum type="arabicPeriod" startAt="2"/>
            </a:pPr>
            <a:endParaRPr lang="de-DE"/>
          </a:p>
        </p:txBody>
      </p:sp>
      <p:sp>
        <p:nvSpPr>
          <p:cNvPr id="29" name="Freihandform 28">
            <a:extLst>
              <a:ext uri="{FF2B5EF4-FFF2-40B4-BE49-F238E27FC236}">
                <a16:creationId xmlns:a16="http://schemas.microsoft.com/office/drawing/2014/main" id="{4ABE553D-9B8F-A402-A75C-97FD8F31F5D3}"/>
              </a:ext>
            </a:extLst>
          </p:cNvPr>
          <p:cNvSpPr/>
          <p:nvPr/>
        </p:nvSpPr>
        <p:spPr>
          <a:xfrm>
            <a:off x="9520568" y="2521384"/>
            <a:ext cx="423949" cy="0"/>
          </a:xfrm>
          <a:custGeom>
            <a:avLst/>
            <a:gdLst>
              <a:gd name="connsiteX0" fmla="*/ 0 w 423949"/>
              <a:gd name="connsiteY0" fmla="*/ 0 h 0"/>
              <a:gd name="connsiteX1" fmla="*/ 423949 w 42394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949">
                <a:moveTo>
                  <a:pt x="0" y="0"/>
                </a:moveTo>
                <a:lnTo>
                  <a:pt x="423949" y="0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bg1"/>
              </a:solidFill>
            </a:endParaRPr>
          </a:p>
        </p:txBody>
      </p:sp>
      <p:sp>
        <p:nvSpPr>
          <p:cNvPr id="31" name="Freihandform 30">
            <a:extLst>
              <a:ext uri="{FF2B5EF4-FFF2-40B4-BE49-F238E27FC236}">
                <a16:creationId xmlns:a16="http://schemas.microsoft.com/office/drawing/2014/main" id="{1571A9CA-F106-D8A6-6C43-9876F1DFCBBA}"/>
              </a:ext>
            </a:extLst>
          </p:cNvPr>
          <p:cNvSpPr/>
          <p:nvPr/>
        </p:nvSpPr>
        <p:spPr>
          <a:xfrm>
            <a:off x="1648415" y="3258754"/>
            <a:ext cx="8387542" cy="2245345"/>
          </a:xfrm>
          <a:custGeom>
            <a:avLst/>
            <a:gdLst>
              <a:gd name="connsiteX0" fmla="*/ 0 w 8387542"/>
              <a:gd name="connsiteY0" fmla="*/ 2238586 h 2245345"/>
              <a:gd name="connsiteX1" fmla="*/ 498764 w 8387542"/>
              <a:gd name="connsiteY1" fmla="*/ 2230273 h 2245345"/>
              <a:gd name="connsiteX2" fmla="*/ 972589 w 8387542"/>
              <a:gd name="connsiteY2" fmla="*/ 2105583 h 2245345"/>
              <a:gd name="connsiteX3" fmla="*/ 1571106 w 8387542"/>
              <a:gd name="connsiteY3" fmla="*/ 1822950 h 2245345"/>
              <a:gd name="connsiteX4" fmla="*/ 2344189 w 8387542"/>
              <a:gd name="connsiteY4" fmla="*/ 1399001 h 2245345"/>
              <a:gd name="connsiteX5" fmla="*/ 2801389 w 8387542"/>
              <a:gd name="connsiteY5" fmla="*/ 1124681 h 2245345"/>
              <a:gd name="connsiteX6" fmla="*/ 3657600 w 8387542"/>
              <a:gd name="connsiteY6" fmla="*/ 600979 h 2245345"/>
              <a:gd name="connsiteX7" fmla="*/ 4164676 w 8387542"/>
              <a:gd name="connsiteY7" fmla="*/ 351597 h 2245345"/>
              <a:gd name="connsiteX8" fmla="*/ 4746567 w 8387542"/>
              <a:gd name="connsiteY8" fmla="*/ 118841 h 2245345"/>
              <a:gd name="connsiteX9" fmla="*/ 5203767 w 8387542"/>
              <a:gd name="connsiteY9" fmla="*/ 35713 h 2245345"/>
              <a:gd name="connsiteX10" fmla="*/ 6001789 w 8387542"/>
              <a:gd name="connsiteY10" fmla="*/ 2463 h 2245345"/>
              <a:gd name="connsiteX11" fmla="*/ 7198822 w 8387542"/>
              <a:gd name="connsiteY11" fmla="*/ 2463 h 2245345"/>
              <a:gd name="connsiteX12" fmla="*/ 8387542 w 8387542"/>
              <a:gd name="connsiteY12" fmla="*/ 2463 h 2245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387542" h="2245345">
                <a:moveTo>
                  <a:pt x="0" y="2238586"/>
                </a:moveTo>
                <a:cubicBezTo>
                  <a:pt x="168333" y="2245513"/>
                  <a:pt x="336666" y="2252440"/>
                  <a:pt x="498764" y="2230273"/>
                </a:cubicBezTo>
                <a:cubicBezTo>
                  <a:pt x="660862" y="2208106"/>
                  <a:pt x="793865" y="2173470"/>
                  <a:pt x="972589" y="2105583"/>
                </a:cubicBezTo>
                <a:cubicBezTo>
                  <a:pt x="1151313" y="2037696"/>
                  <a:pt x="1342506" y="1940714"/>
                  <a:pt x="1571106" y="1822950"/>
                </a:cubicBezTo>
                <a:cubicBezTo>
                  <a:pt x="1799706" y="1705186"/>
                  <a:pt x="2139142" y="1515379"/>
                  <a:pt x="2344189" y="1399001"/>
                </a:cubicBezTo>
                <a:cubicBezTo>
                  <a:pt x="2549236" y="1282623"/>
                  <a:pt x="2801389" y="1124681"/>
                  <a:pt x="2801389" y="1124681"/>
                </a:cubicBezTo>
                <a:cubicBezTo>
                  <a:pt x="3020291" y="991677"/>
                  <a:pt x="3430386" y="729826"/>
                  <a:pt x="3657600" y="600979"/>
                </a:cubicBezTo>
                <a:cubicBezTo>
                  <a:pt x="3884815" y="472132"/>
                  <a:pt x="3983182" y="431953"/>
                  <a:pt x="4164676" y="351597"/>
                </a:cubicBezTo>
                <a:cubicBezTo>
                  <a:pt x="4346170" y="271241"/>
                  <a:pt x="4573385" y="171488"/>
                  <a:pt x="4746567" y="118841"/>
                </a:cubicBezTo>
                <a:cubicBezTo>
                  <a:pt x="4919749" y="66194"/>
                  <a:pt x="4994563" y="55109"/>
                  <a:pt x="5203767" y="35713"/>
                </a:cubicBezTo>
                <a:cubicBezTo>
                  <a:pt x="5412971" y="16317"/>
                  <a:pt x="5669280" y="8005"/>
                  <a:pt x="6001789" y="2463"/>
                </a:cubicBezTo>
                <a:cubicBezTo>
                  <a:pt x="6334298" y="-3079"/>
                  <a:pt x="7198822" y="2463"/>
                  <a:pt x="7198822" y="2463"/>
                </a:cubicBezTo>
                <a:lnTo>
                  <a:pt x="8387542" y="2463"/>
                </a:ln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bg1"/>
              </a:solidFill>
            </a:endParaRPr>
          </a:p>
        </p:txBody>
      </p:sp>
      <p:sp>
        <p:nvSpPr>
          <p:cNvPr id="32" name="Freihandform 31">
            <a:extLst>
              <a:ext uri="{FF2B5EF4-FFF2-40B4-BE49-F238E27FC236}">
                <a16:creationId xmlns:a16="http://schemas.microsoft.com/office/drawing/2014/main" id="{5D02C62C-FB97-5374-3689-7F1A486C5670}"/>
              </a:ext>
            </a:extLst>
          </p:cNvPr>
          <p:cNvSpPr/>
          <p:nvPr/>
        </p:nvSpPr>
        <p:spPr>
          <a:xfrm>
            <a:off x="5281077" y="2519785"/>
            <a:ext cx="4361722" cy="1348261"/>
          </a:xfrm>
          <a:custGeom>
            <a:avLst/>
            <a:gdLst>
              <a:gd name="connsiteX0" fmla="*/ 0 w 4361722"/>
              <a:gd name="connsiteY0" fmla="*/ 1348261 h 1348261"/>
              <a:gd name="connsiteX1" fmla="*/ 847898 w 4361722"/>
              <a:gd name="connsiteY1" fmla="*/ 766370 h 1348261"/>
              <a:gd name="connsiteX2" fmla="*/ 1554480 w 4361722"/>
              <a:gd name="connsiteY2" fmla="*/ 267606 h 1348261"/>
              <a:gd name="connsiteX3" fmla="*/ 2003367 w 4361722"/>
              <a:gd name="connsiteY3" fmla="*/ 76413 h 1348261"/>
              <a:gd name="connsiteX4" fmla="*/ 2768138 w 4361722"/>
              <a:gd name="connsiteY4" fmla="*/ 18224 h 1348261"/>
              <a:gd name="connsiteX5" fmla="*/ 4181302 w 4361722"/>
              <a:gd name="connsiteY5" fmla="*/ 1599 h 1348261"/>
              <a:gd name="connsiteX6" fmla="*/ 4297680 w 4361722"/>
              <a:gd name="connsiteY6" fmla="*/ 1599 h 134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61722" h="1348261">
                <a:moveTo>
                  <a:pt x="0" y="1348261"/>
                </a:moveTo>
                <a:lnTo>
                  <a:pt x="847898" y="766370"/>
                </a:lnTo>
                <a:cubicBezTo>
                  <a:pt x="1106978" y="586261"/>
                  <a:pt x="1361902" y="382599"/>
                  <a:pt x="1554480" y="267606"/>
                </a:cubicBezTo>
                <a:cubicBezTo>
                  <a:pt x="1747058" y="152613"/>
                  <a:pt x="1801091" y="117977"/>
                  <a:pt x="2003367" y="76413"/>
                </a:cubicBezTo>
                <a:cubicBezTo>
                  <a:pt x="2205643" y="34849"/>
                  <a:pt x="2405149" y="30693"/>
                  <a:pt x="2768138" y="18224"/>
                </a:cubicBezTo>
                <a:cubicBezTo>
                  <a:pt x="3131127" y="5755"/>
                  <a:pt x="3926378" y="4370"/>
                  <a:pt x="4181302" y="1599"/>
                </a:cubicBezTo>
                <a:cubicBezTo>
                  <a:pt x="4436226" y="-1172"/>
                  <a:pt x="4366953" y="213"/>
                  <a:pt x="4297680" y="1599"/>
                </a:cubicBez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bg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0D9A2C9-B353-0BF0-3350-B87EB284EA18}"/>
              </a:ext>
            </a:extLst>
          </p:cNvPr>
          <p:cNvSpPr/>
          <p:nvPr/>
        </p:nvSpPr>
        <p:spPr>
          <a:xfrm>
            <a:off x="6649904" y="3082492"/>
            <a:ext cx="1230283" cy="3740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Configuration</a:t>
            </a:r>
            <a:endParaRPr lang="de-DE" sz="1000" b="1">
              <a:solidFill>
                <a:schemeClr val="bg1"/>
              </a:solidFill>
              <a:latin typeface="Source Sans Pro Light" panose="020B0503030403020204" pitchFamily="34" charset="0"/>
              <a:ea typeface="Source Sans Pro Light" panose="020B0503030403020204" pitchFamily="34" charset="0"/>
              <a:cs typeface="Arial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4F4DADA-2EF6-3D2B-DA0D-1861732E9EB2}"/>
              </a:ext>
            </a:extLst>
          </p:cNvPr>
          <p:cNvSpPr/>
          <p:nvPr/>
        </p:nvSpPr>
        <p:spPr>
          <a:xfrm>
            <a:off x="6370043" y="2433251"/>
            <a:ext cx="1230283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Individualisation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D02479E3-2D03-A186-39EC-DAA68BB69112}"/>
              </a:ext>
            </a:extLst>
          </p:cNvPr>
          <p:cNvSpPr/>
          <p:nvPr/>
        </p:nvSpPr>
        <p:spPr>
          <a:xfrm>
            <a:off x="9715507" y="3071717"/>
            <a:ext cx="2109159" cy="3740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SAAS Start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6B3351BA-6460-FCB9-4801-62E1052CC141}"/>
              </a:ext>
            </a:extLst>
          </p:cNvPr>
          <p:cNvSpPr/>
          <p:nvPr/>
        </p:nvSpPr>
        <p:spPr>
          <a:xfrm>
            <a:off x="3019493" y="4747782"/>
            <a:ext cx="1313411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Analysis </a:t>
            </a:r>
            <a:r>
              <a:rPr lang="de-DE" sz="1000" err="1"/>
              <a:t>of</a:t>
            </a:r>
            <a:r>
              <a:rPr lang="de-DE" sz="1000"/>
              <a:t> </a:t>
            </a:r>
            <a:r>
              <a:rPr lang="de-DE" sz="1000" err="1"/>
              <a:t>customer</a:t>
            </a:r>
            <a:r>
              <a:rPr lang="de-DE" sz="1000"/>
              <a:t> </a:t>
            </a:r>
            <a:r>
              <a:rPr lang="de-DE" sz="1000" err="1"/>
              <a:t>Requirements</a:t>
            </a:r>
            <a:r>
              <a:rPr lang="de-DE" sz="1000"/>
              <a:t> &amp; KPIs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E7741ECC-389A-6689-C955-A6042DC1EB4E}"/>
              </a:ext>
            </a:extLst>
          </p:cNvPr>
          <p:cNvSpPr/>
          <p:nvPr/>
        </p:nvSpPr>
        <p:spPr>
          <a:xfrm>
            <a:off x="4895616" y="3500131"/>
            <a:ext cx="1230283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Solution </a:t>
            </a:r>
            <a:r>
              <a:rPr lang="de-DE" sz="1200" err="1"/>
              <a:t>proposal</a:t>
            </a:r>
            <a:r>
              <a:rPr lang="de-DE" sz="1200"/>
              <a:t> 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56B571E5-0F3E-0F22-2EA8-34F384CCCC0A}"/>
              </a:ext>
            </a:extLst>
          </p:cNvPr>
          <p:cNvSpPr/>
          <p:nvPr/>
        </p:nvSpPr>
        <p:spPr>
          <a:xfrm>
            <a:off x="1706082" y="5326929"/>
            <a:ext cx="1313411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TRMZ Company </a:t>
            </a:r>
            <a:r>
              <a:rPr lang="de-DE" sz="1200" err="1"/>
              <a:t>presentation</a:t>
            </a:r>
            <a:endParaRPr lang="de-DE" sz="120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B0AF711D-BCCF-F19A-F5D7-00BF85BD25D1}"/>
              </a:ext>
            </a:extLst>
          </p:cNvPr>
          <p:cNvSpPr/>
          <p:nvPr/>
        </p:nvSpPr>
        <p:spPr>
          <a:xfrm>
            <a:off x="3912781" y="4159183"/>
            <a:ext cx="1313411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TRMZ </a:t>
            </a:r>
            <a:r>
              <a:rPr lang="de-DE" sz="1200" err="1"/>
              <a:t>Product</a:t>
            </a:r>
            <a:r>
              <a:rPr lang="de-DE" sz="1200"/>
              <a:t> </a:t>
            </a:r>
          </a:p>
          <a:p>
            <a:pPr algn="ctr"/>
            <a:r>
              <a:rPr lang="de-DE" sz="1200" err="1"/>
              <a:t>selection</a:t>
            </a:r>
            <a:endParaRPr lang="de-DE" sz="120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3CDE88A-9FAF-FB3D-C4F8-0E654E0AD4C8}"/>
              </a:ext>
            </a:extLst>
          </p:cNvPr>
          <p:cNvSpPr/>
          <p:nvPr/>
        </p:nvSpPr>
        <p:spPr>
          <a:xfrm>
            <a:off x="1580681" y="5133144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E3F9655-8699-09E0-C91C-AEAA90FD4696}"/>
              </a:ext>
            </a:extLst>
          </p:cNvPr>
          <p:cNvSpPr/>
          <p:nvPr/>
        </p:nvSpPr>
        <p:spPr>
          <a:xfrm>
            <a:off x="2839742" y="4576575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2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05E802F-01BC-EDDA-4B09-4741812FBDBC}"/>
              </a:ext>
            </a:extLst>
          </p:cNvPr>
          <p:cNvSpPr/>
          <p:nvPr/>
        </p:nvSpPr>
        <p:spPr>
          <a:xfrm>
            <a:off x="3733031" y="4014954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3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D1E65917-AF05-B495-4450-3BC5292FF1AC}"/>
              </a:ext>
            </a:extLst>
          </p:cNvPr>
          <p:cNvSpPr txBox="1"/>
          <p:nvPr/>
        </p:nvSpPr>
        <p:spPr>
          <a:xfrm>
            <a:off x="2418371" y="5678592"/>
            <a:ext cx="739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000">
                <a:solidFill>
                  <a:schemeClr val="bg1">
                    <a:lumMod val="65000"/>
                  </a:schemeClr>
                </a:solidFill>
                <a:latin typeface="Source Sans Pro SemiBold"/>
                <a:ea typeface="Source Sans Pro SemiBold"/>
              </a:defRPr>
            </a:lvl1pPr>
          </a:lstStyle>
          <a:p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284A92BE-441C-CBD4-456E-E49B2F8A924A}"/>
              </a:ext>
            </a:extLst>
          </p:cNvPr>
          <p:cNvSpPr txBox="1"/>
          <p:nvPr/>
        </p:nvSpPr>
        <p:spPr>
          <a:xfrm>
            <a:off x="3733031" y="5080730"/>
            <a:ext cx="739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>
                <a:solidFill>
                  <a:schemeClr val="bg1">
                    <a:lumMod val="65000"/>
                  </a:schemeClr>
                </a:solidFill>
                <a:latin typeface="Source Sans Pro SemiBold"/>
                <a:ea typeface="Source Sans Pro SemiBold"/>
              </a:defRPr>
            </a:lvl1pPr>
          </a:lstStyle>
          <a:p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7B57E362-9E91-49B0-C23F-AB69241CB2DF}"/>
              </a:ext>
            </a:extLst>
          </p:cNvPr>
          <p:cNvSpPr txBox="1"/>
          <p:nvPr/>
        </p:nvSpPr>
        <p:spPr>
          <a:xfrm>
            <a:off x="5489975" y="3841362"/>
            <a:ext cx="739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1000">
              <a:solidFill>
                <a:schemeClr val="bg1">
                  <a:lumMod val="65000"/>
                </a:schemeClr>
              </a:solidFill>
              <a:latin typeface="Source Sans Pro SemiBold"/>
              <a:ea typeface="Source Sans Pro SemiBold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88CCBD7-9903-630C-9B37-9A94B945361C}"/>
              </a:ext>
            </a:extLst>
          </p:cNvPr>
          <p:cNvSpPr/>
          <p:nvPr/>
        </p:nvSpPr>
        <p:spPr>
          <a:xfrm>
            <a:off x="4781492" y="3303228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4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84F0747-6CD5-CB95-55B7-B41553C4CE12}"/>
              </a:ext>
            </a:extLst>
          </p:cNvPr>
          <p:cNvCxnSpPr/>
          <p:nvPr/>
        </p:nvCxnSpPr>
        <p:spPr>
          <a:xfrm>
            <a:off x="1156138" y="6064469"/>
            <a:ext cx="106685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61381CD1-EFAB-E85F-C487-93C4E95580A7}"/>
              </a:ext>
            </a:extLst>
          </p:cNvPr>
          <p:cNvCxnSpPr>
            <a:cxnSpLocks/>
          </p:cNvCxnSpPr>
          <p:nvPr/>
        </p:nvCxnSpPr>
        <p:spPr>
          <a:xfrm flipV="1">
            <a:off x="1308538" y="1761058"/>
            <a:ext cx="0" cy="4455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817D5851-F233-96C0-F691-835A4B325454}"/>
              </a:ext>
            </a:extLst>
          </p:cNvPr>
          <p:cNvSpPr txBox="1"/>
          <p:nvPr/>
        </p:nvSpPr>
        <p:spPr>
          <a:xfrm>
            <a:off x="10562897" y="6064469"/>
            <a:ext cx="977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/>
              <a:t>time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054916B-B581-6A4E-C3EE-D2AEFC9FD9E1}"/>
              </a:ext>
            </a:extLst>
          </p:cNvPr>
          <p:cNvSpPr txBox="1"/>
          <p:nvPr/>
        </p:nvSpPr>
        <p:spPr>
          <a:xfrm rot="16200000">
            <a:off x="397107" y="2389038"/>
            <a:ext cx="1468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 err="1"/>
              <a:t>commitment</a:t>
            </a:r>
            <a:endParaRPr lang="de-DE" sz="14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4CFB26E-EAC9-0A42-C455-FD6094547381}"/>
              </a:ext>
            </a:extLst>
          </p:cNvPr>
          <p:cNvSpPr txBox="1">
            <a:spLocks/>
          </p:cNvSpPr>
          <p:nvPr/>
        </p:nvSpPr>
        <p:spPr>
          <a:xfrm>
            <a:off x="561257" y="1000187"/>
            <a:ext cx="11114806" cy="444889"/>
          </a:xfrm>
          <a:prstGeom prst="rect">
            <a:avLst/>
          </a:prstGeom>
        </p:spPr>
        <p:txBody>
          <a:bodyPr vert="horz" lIns="0" tIns="45720" rIns="91440" bIns="45720" rtlCol="0" anchor="t" anchorCtr="0">
            <a:no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rgbClr val="3C3C3C"/>
                </a:solidFill>
                <a:latin typeface="Klavika medium"/>
                <a:ea typeface="+mj-ea"/>
                <a:cs typeface="+mj-cs"/>
              </a:defRPr>
            </a:lvl1pPr>
          </a:lstStyle>
          <a:p>
            <a:r>
              <a:rPr lang="de-DE" dirty="0"/>
              <a:t>TRMZ </a:t>
            </a:r>
            <a:r>
              <a:rPr lang="de-DE" dirty="0" err="1"/>
              <a:t>consulting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understanding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relevant </a:t>
            </a:r>
            <a:r>
              <a:rPr lang="de-DE" dirty="0" err="1"/>
              <a:t>requirements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AEED9A5-38A5-D1C0-4AB1-43CDFADDFFC4}"/>
              </a:ext>
            </a:extLst>
          </p:cNvPr>
          <p:cNvSpPr/>
          <p:nvPr/>
        </p:nvSpPr>
        <p:spPr>
          <a:xfrm>
            <a:off x="8225323" y="2463967"/>
            <a:ext cx="1230283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Specific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product</a:t>
            </a:r>
            <a:endParaRPr lang="de-DE" sz="12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41274F7-5841-367D-7D1E-7619483DA905}"/>
              </a:ext>
            </a:extLst>
          </p:cNvPr>
          <p:cNvSpPr/>
          <p:nvPr/>
        </p:nvSpPr>
        <p:spPr>
          <a:xfrm>
            <a:off x="9721770" y="2447042"/>
            <a:ext cx="2109159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Custom Expansion </a:t>
            </a:r>
          </a:p>
          <a:p>
            <a:pPr algn="ctr"/>
            <a:r>
              <a:rPr lang="de-DE" sz="1200" dirty="0" err="1"/>
              <a:t>Offer</a:t>
            </a:r>
            <a:r>
              <a:rPr lang="de-DE" sz="1200" dirty="0"/>
              <a:t> &amp; Start</a:t>
            </a:r>
          </a:p>
        </p:txBody>
      </p:sp>
    </p:spTree>
    <p:extLst>
      <p:ext uri="{BB962C8B-B14F-4D97-AF65-F5344CB8AC3E}">
        <p14:creationId xmlns:p14="http://schemas.microsoft.com/office/powerpoint/2010/main" val="330232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32ABA-BB6F-FDDF-2406-25F26F89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1">
            <a:extLst>
              <a:ext uri="{FF2B5EF4-FFF2-40B4-BE49-F238E27FC236}">
                <a16:creationId xmlns:a16="http://schemas.microsoft.com/office/drawing/2014/main" id="{A074BD9E-6D92-C14B-F85F-4E07D90A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452" y="6452133"/>
            <a:ext cx="4114800" cy="220652"/>
          </a:xfrm>
        </p:spPr>
        <p:txBody>
          <a:bodyPr/>
          <a:lstStyle/>
          <a:p>
            <a:r>
              <a:rPr lang="de-DE"/>
              <a:t>Tiramizoo</a:t>
            </a:r>
          </a:p>
        </p:txBody>
      </p:sp>
      <p:sp>
        <p:nvSpPr>
          <p:cNvPr id="3" name="Rounded Rectangle 15">
            <a:extLst>
              <a:ext uri="{FF2B5EF4-FFF2-40B4-BE49-F238E27FC236}">
                <a16:creationId xmlns:a16="http://schemas.microsoft.com/office/drawing/2014/main" id="{FD457A50-107C-A849-7182-64799114D8A5}"/>
              </a:ext>
            </a:extLst>
          </p:cNvPr>
          <p:cNvSpPr/>
          <p:nvPr/>
        </p:nvSpPr>
        <p:spPr>
          <a:xfrm>
            <a:off x="638452" y="1761058"/>
            <a:ext cx="10813503" cy="3502919"/>
          </a:xfrm>
          <a:prstGeom prst="roundRect">
            <a:avLst>
              <a:gd name="adj" fmla="val 9314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endParaRPr lang="en-US" sz="2200" i="0">
              <a:solidFill>
                <a:srgbClr val="141415"/>
              </a:solidFill>
              <a:effectLst/>
              <a:latin typeface="Klavika light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6377DD78-BFAB-DB4C-2CC4-B718DC16A7DC}"/>
              </a:ext>
            </a:extLst>
          </p:cNvPr>
          <p:cNvSpPr txBox="1">
            <a:spLocks/>
          </p:cNvSpPr>
          <p:nvPr/>
        </p:nvSpPr>
        <p:spPr>
          <a:xfrm>
            <a:off x="554869" y="162000"/>
            <a:ext cx="6858464" cy="444888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000" b="1">
                <a:solidFill>
                  <a:srgbClr val="3C3C3C"/>
                </a:solidFill>
                <a:latin typeface="Klavika medium"/>
                <a:ea typeface="Source Sans Pro SemiBold" panose="020B0503030403020204" pitchFamily="34" charset="0"/>
                <a:cs typeface="+mj-cs"/>
              </a:defRPr>
            </a:lvl1pPr>
          </a:lstStyle>
          <a:p>
            <a:pPr marL="457200" indent="-457200">
              <a:buClr>
                <a:srgbClr val="86BC25"/>
              </a:buClr>
              <a:buFont typeface="+mj-lt"/>
              <a:buAutoNum type="arabicPeriod" startAt="2"/>
            </a:pPr>
            <a:r>
              <a:rPr lang="de-DE"/>
              <a:t>MAIN TASKS</a:t>
            </a:r>
          </a:p>
          <a:p>
            <a:pPr marL="457200" indent="-457200">
              <a:buClr>
                <a:srgbClr val="86BC25"/>
              </a:buClr>
              <a:buFont typeface="+mj-lt"/>
              <a:buAutoNum type="arabicPeriod" startAt="2"/>
            </a:pPr>
            <a:endParaRPr lang="de-DE"/>
          </a:p>
        </p:txBody>
      </p:sp>
      <p:sp>
        <p:nvSpPr>
          <p:cNvPr id="29" name="Freihandform 28">
            <a:extLst>
              <a:ext uri="{FF2B5EF4-FFF2-40B4-BE49-F238E27FC236}">
                <a16:creationId xmlns:a16="http://schemas.microsoft.com/office/drawing/2014/main" id="{BF59470D-30D1-069D-03D7-F68BAB9E02E1}"/>
              </a:ext>
            </a:extLst>
          </p:cNvPr>
          <p:cNvSpPr/>
          <p:nvPr/>
        </p:nvSpPr>
        <p:spPr>
          <a:xfrm>
            <a:off x="9520568" y="2521384"/>
            <a:ext cx="423949" cy="0"/>
          </a:xfrm>
          <a:custGeom>
            <a:avLst/>
            <a:gdLst>
              <a:gd name="connsiteX0" fmla="*/ 0 w 423949"/>
              <a:gd name="connsiteY0" fmla="*/ 0 h 0"/>
              <a:gd name="connsiteX1" fmla="*/ 423949 w 42394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949">
                <a:moveTo>
                  <a:pt x="0" y="0"/>
                </a:moveTo>
                <a:lnTo>
                  <a:pt x="423949" y="0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bg1"/>
              </a:solidFill>
            </a:endParaRPr>
          </a:p>
        </p:txBody>
      </p:sp>
      <p:sp>
        <p:nvSpPr>
          <p:cNvPr id="30" name="Freihandform 29">
            <a:extLst>
              <a:ext uri="{FF2B5EF4-FFF2-40B4-BE49-F238E27FC236}">
                <a16:creationId xmlns:a16="http://schemas.microsoft.com/office/drawing/2014/main" id="{4E52BEDE-4965-53D4-354F-A6F75D4DF7CF}"/>
              </a:ext>
            </a:extLst>
          </p:cNvPr>
          <p:cNvSpPr/>
          <p:nvPr/>
        </p:nvSpPr>
        <p:spPr>
          <a:xfrm>
            <a:off x="5073259" y="1942207"/>
            <a:ext cx="4921134" cy="2058842"/>
          </a:xfrm>
          <a:custGeom>
            <a:avLst/>
            <a:gdLst>
              <a:gd name="connsiteX0" fmla="*/ 0 w 4921134"/>
              <a:gd name="connsiteY0" fmla="*/ 2058842 h 2058842"/>
              <a:gd name="connsiteX1" fmla="*/ 1064029 w 4921134"/>
              <a:gd name="connsiteY1" fmla="*/ 1119504 h 2058842"/>
              <a:gd name="connsiteX2" fmla="*/ 1463040 w 4921134"/>
              <a:gd name="connsiteY2" fmla="*/ 753744 h 2058842"/>
              <a:gd name="connsiteX3" fmla="*/ 1945178 w 4921134"/>
              <a:gd name="connsiteY3" fmla="*/ 346420 h 2058842"/>
              <a:gd name="connsiteX4" fmla="*/ 2552007 w 4921134"/>
              <a:gd name="connsiteY4" fmla="*/ 63788 h 2058842"/>
              <a:gd name="connsiteX5" fmla="*/ 3258589 w 4921134"/>
              <a:gd name="connsiteY5" fmla="*/ 5599 h 2058842"/>
              <a:gd name="connsiteX6" fmla="*/ 4921134 w 4921134"/>
              <a:gd name="connsiteY6" fmla="*/ 5599 h 2058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21134" h="2058842">
                <a:moveTo>
                  <a:pt x="0" y="2058842"/>
                </a:moveTo>
                <a:lnTo>
                  <a:pt x="1064029" y="1119504"/>
                </a:lnTo>
                <a:cubicBezTo>
                  <a:pt x="1307869" y="901988"/>
                  <a:pt x="1316182" y="882591"/>
                  <a:pt x="1463040" y="753744"/>
                </a:cubicBezTo>
                <a:cubicBezTo>
                  <a:pt x="1609898" y="624897"/>
                  <a:pt x="1763684" y="461413"/>
                  <a:pt x="1945178" y="346420"/>
                </a:cubicBezTo>
                <a:cubicBezTo>
                  <a:pt x="2126672" y="231427"/>
                  <a:pt x="2333105" y="120591"/>
                  <a:pt x="2552007" y="63788"/>
                </a:cubicBezTo>
                <a:cubicBezTo>
                  <a:pt x="2770909" y="6984"/>
                  <a:pt x="2863735" y="15297"/>
                  <a:pt x="3258589" y="5599"/>
                </a:cubicBezTo>
                <a:cubicBezTo>
                  <a:pt x="3653443" y="-4099"/>
                  <a:pt x="4287288" y="750"/>
                  <a:pt x="4921134" y="5599"/>
                </a:cubicBez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bg1"/>
              </a:solidFill>
            </a:endParaRPr>
          </a:p>
        </p:txBody>
      </p:sp>
      <p:sp>
        <p:nvSpPr>
          <p:cNvPr id="31" name="Freihandform 30">
            <a:extLst>
              <a:ext uri="{FF2B5EF4-FFF2-40B4-BE49-F238E27FC236}">
                <a16:creationId xmlns:a16="http://schemas.microsoft.com/office/drawing/2014/main" id="{1EA22436-9C4D-CB56-3986-E59892E7B44C}"/>
              </a:ext>
            </a:extLst>
          </p:cNvPr>
          <p:cNvSpPr/>
          <p:nvPr/>
        </p:nvSpPr>
        <p:spPr>
          <a:xfrm>
            <a:off x="1648415" y="3258754"/>
            <a:ext cx="8387542" cy="2245345"/>
          </a:xfrm>
          <a:custGeom>
            <a:avLst/>
            <a:gdLst>
              <a:gd name="connsiteX0" fmla="*/ 0 w 8387542"/>
              <a:gd name="connsiteY0" fmla="*/ 2238586 h 2245345"/>
              <a:gd name="connsiteX1" fmla="*/ 498764 w 8387542"/>
              <a:gd name="connsiteY1" fmla="*/ 2230273 h 2245345"/>
              <a:gd name="connsiteX2" fmla="*/ 972589 w 8387542"/>
              <a:gd name="connsiteY2" fmla="*/ 2105583 h 2245345"/>
              <a:gd name="connsiteX3" fmla="*/ 1571106 w 8387542"/>
              <a:gd name="connsiteY3" fmla="*/ 1822950 h 2245345"/>
              <a:gd name="connsiteX4" fmla="*/ 2344189 w 8387542"/>
              <a:gd name="connsiteY4" fmla="*/ 1399001 h 2245345"/>
              <a:gd name="connsiteX5" fmla="*/ 2801389 w 8387542"/>
              <a:gd name="connsiteY5" fmla="*/ 1124681 h 2245345"/>
              <a:gd name="connsiteX6" fmla="*/ 3657600 w 8387542"/>
              <a:gd name="connsiteY6" fmla="*/ 600979 h 2245345"/>
              <a:gd name="connsiteX7" fmla="*/ 4164676 w 8387542"/>
              <a:gd name="connsiteY7" fmla="*/ 351597 h 2245345"/>
              <a:gd name="connsiteX8" fmla="*/ 4746567 w 8387542"/>
              <a:gd name="connsiteY8" fmla="*/ 118841 h 2245345"/>
              <a:gd name="connsiteX9" fmla="*/ 5203767 w 8387542"/>
              <a:gd name="connsiteY9" fmla="*/ 35713 h 2245345"/>
              <a:gd name="connsiteX10" fmla="*/ 6001789 w 8387542"/>
              <a:gd name="connsiteY10" fmla="*/ 2463 h 2245345"/>
              <a:gd name="connsiteX11" fmla="*/ 7198822 w 8387542"/>
              <a:gd name="connsiteY11" fmla="*/ 2463 h 2245345"/>
              <a:gd name="connsiteX12" fmla="*/ 8387542 w 8387542"/>
              <a:gd name="connsiteY12" fmla="*/ 2463 h 2245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387542" h="2245345">
                <a:moveTo>
                  <a:pt x="0" y="2238586"/>
                </a:moveTo>
                <a:cubicBezTo>
                  <a:pt x="168333" y="2245513"/>
                  <a:pt x="336666" y="2252440"/>
                  <a:pt x="498764" y="2230273"/>
                </a:cubicBezTo>
                <a:cubicBezTo>
                  <a:pt x="660862" y="2208106"/>
                  <a:pt x="793865" y="2173470"/>
                  <a:pt x="972589" y="2105583"/>
                </a:cubicBezTo>
                <a:cubicBezTo>
                  <a:pt x="1151313" y="2037696"/>
                  <a:pt x="1342506" y="1940714"/>
                  <a:pt x="1571106" y="1822950"/>
                </a:cubicBezTo>
                <a:cubicBezTo>
                  <a:pt x="1799706" y="1705186"/>
                  <a:pt x="2139142" y="1515379"/>
                  <a:pt x="2344189" y="1399001"/>
                </a:cubicBezTo>
                <a:cubicBezTo>
                  <a:pt x="2549236" y="1282623"/>
                  <a:pt x="2801389" y="1124681"/>
                  <a:pt x="2801389" y="1124681"/>
                </a:cubicBezTo>
                <a:cubicBezTo>
                  <a:pt x="3020291" y="991677"/>
                  <a:pt x="3430386" y="729826"/>
                  <a:pt x="3657600" y="600979"/>
                </a:cubicBezTo>
                <a:cubicBezTo>
                  <a:pt x="3884815" y="472132"/>
                  <a:pt x="3983182" y="431953"/>
                  <a:pt x="4164676" y="351597"/>
                </a:cubicBezTo>
                <a:cubicBezTo>
                  <a:pt x="4346170" y="271241"/>
                  <a:pt x="4573385" y="171488"/>
                  <a:pt x="4746567" y="118841"/>
                </a:cubicBezTo>
                <a:cubicBezTo>
                  <a:pt x="4919749" y="66194"/>
                  <a:pt x="4994563" y="55109"/>
                  <a:pt x="5203767" y="35713"/>
                </a:cubicBezTo>
                <a:cubicBezTo>
                  <a:pt x="5412971" y="16317"/>
                  <a:pt x="5669280" y="8005"/>
                  <a:pt x="6001789" y="2463"/>
                </a:cubicBezTo>
                <a:cubicBezTo>
                  <a:pt x="6334298" y="-3079"/>
                  <a:pt x="7198822" y="2463"/>
                  <a:pt x="7198822" y="2463"/>
                </a:cubicBezTo>
                <a:lnTo>
                  <a:pt x="8387542" y="2463"/>
                </a:ln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bg1"/>
              </a:solidFill>
            </a:endParaRPr>
          </a:p>
        </p:txBody>
      </p:sp>
      <p:sp>
        <p:nvSpPr>
          <p:cNvPr id="32" name="Freihandform 31">
            <a:extLst>
              <a:ext uri="{FF2B5EF4-FFF2-40B4-BE49-F238E27FC236}">
                <a16:creationId xmlns:a16="http://schemas.microsoft.com/office/drawing/2014/main" id="{F2356071-325B-CE52-FE7C-A60378BB884F}"/>
              </a:ext>
            </a:extLst>
          </p:cNvPr>
          <p:cNvSpPr/>
          <p:nvPr/>
        </p:nvSpPr>
        <p:spPr>
          <a:xfrm>
            <a:off x="5281077" y="2519785"/>
            <a:ext cx="4361722" cy="1348261"/>
          </a:xfrm>
          <a:custGeom>
            <a:avLst/>
            <a:gdLst>
              <a:gd name="connsiteX0" fmla="*/ 0 w 4361722"/>
              <a:gd name="connsiteY0" fmla="*/ 1348261 h 1348261"/>
              <a:gd name="connsiteX1" fmla="*/ 847898 w 4361722"/>
              <a:gd name="connsiteY1" fmla="*/ 766370 h 1348261"/>
              <a:gd name="connsiteX2" fmla="*/ 1554480 w 4361722"/>
              <a:gd name="connsiteY2" fmla="*/ 267606 h 1348261"/>
              <a:gd name="connsiteX3" fmla="*/ 2003367 w 4361722"/>
              <a:gd name="connsiteY3" fmla="*/ 76413 h 1348261"/>
              <a:gd name="connsiteX4" fmla="*/ 2768138 w 4361722"/>
              <a:gd name="connsiteY4" fmla="*/ 18224 h 1348261"/>
              <a:gd name="connsiteX5" fmla="*/ 4181302 w 4361722"/>
              <a:gd name="connsiteY5" fmla="*/ 1599 h 1348261"/>
              <a:gd name="connsiteX6" fmla="*/ 4297680 w 4361722"/>
              <a:gd name="connsiteY6" fmla="*/ 1599 h 134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61722" h="1348261">
                <a:moveTo>
                  <a:pt x="0" y="1348261"/>
                </a:moveTo>
                <a:lnTo>
                  <a:pt x="847898" y="766370"/>
                </a:lnTo>
                <a:cubicBezTo>
                  <a:pt x="1106978" y="586261"/>
                  <a:pt x="1361902" y="382599"/>
                  <a:pt x="1554480" y="267606"/>
                </a:cubicBezTo>
                <a:cubicBezTo>
                  <a:pt x="1747058" y="152613"/>
                  <a:pt x="1801091" y="117977"/>
                  <a:pt x="2003367" y="76413"/>
                </a:cubicBezTo>
                <a:cubicBezTo>
                  <a:pt x="2205643" y="34849"/>
                  <a:pt x="2405149" y="30693"/>
                  <a:pt x="2768138" y="18224"/>
                </a:cubicBezTo>
                <a:cubicBezTo>
                  <a:pt x="3131127" y="5755"/>
                  <a:pt x="3926378" y="4370"/>
                  <a:pt x="4181302" y="1599"/>
                </a:cubicBezTo>
                <a:cubicBezTo>
                  <a:pt x="4436226" y="-1172"/>
                  <a:pt x="4366953" y="213"/>
                  <a:pt x="4297680" y="1599"/>
                </a:cubicBezTo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bg1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6CCD4F5-5A37-D048-0863-35A7E5D1D1E5}"/>
              </a:ext>
            </a:extLst>
          </p:cNvPr>
          <p:cNvSpPr/>
          <p:nvPr/>
        </p:nvSpPr>
        <p:spPr>
          <a:xfrm>
            <a:off x="6649904" y="3082492"/>
            <a:ext cx="1230283" cy="3740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Configuration</a:t>
            </a:r>
            <a:endParaRPr lang="de-DE" sz="1000" b="1">
              <a:solidFill>
                <a:schemeClr val="bg1"/>
              </a:solidFill>
              <a:latin typeface="Source Sans Pro Light" panose="020B0503030403020204" pitchFamily="34" charset="0"/>
              <a:ea typeface="Source Sans Pro Light" panose="020B0503030403020204" pitchFamily="34" charset="0"/>
              <a:cs typeface="Arial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E2FEF25-D6E6-BAF9-8B7C-CBE16904F3A4}"/>
              </a:ext>
            </a:extLst>
          </p:cNvPr>
          <p:cNvSpPr/>
          <p:nvPr/>
        </p:nvSpPr>
        <p:spPr>
          <a:xfrm>
            <a:off x="6370043" y="2433251"/>
            <a:ext cx="1230283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Individualisation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A927DA47-ACBB-3918-6100-BA3212801C2B}"/>
              </a:ext>
            </a:extLst>
          </p:cNvPr>
          <p:cNvSpPr/>
          <p:nvPr/>
        </p:nvSpPr>
        <p:spPr>
          <a:xfrm>
            <a:off x="9715507" y="3071717"/>
            <a:ext cx="2109159" cy="3740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SAAS Start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C0ABB7C1-D6C6-10AA-EDD4-687EF8DFE1DA}"/>
              </a:ext>
            </a:extLst>
          </p:cNvPr>
          <p:cNvSpPr/>
          <p:nvPr/>
        </p:nvSpPr>
        <p:spPr>
          <a:xfrm>
            <a:off x="3019493" y="4747782"/>
            <a:ext cx="1313411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Analysis </a:t>
            </a:r>
            <a:r>
              <a:rPr lang="de-DE" sz="1000" err="1"/>
              <a:t>of</a:t>
            </a:r>
            <a:r>
              <a:rPr lang="de-DE" sz="1000"/>
              <a:t> </a:t>
            </a:r>
            <a:r>
              <a:rPr lang="de-DE" sz="1000" err="1"/>
              <a:t>customer</a:t>
            </a:r>
            <a:r>
              <a:rPr lang="de-DE" sz="1000"/>
              <a:t> </a:t>
            </a:r>
            <a:r>
              <a:rPr lang="de-DE" sz="1000" err="1"/>
              <a:t>Requirements</a:t>
            </a:r>
            <a:r>
              <a:rPr lang="de-DE" sz="1000"/>
              <a:t> &amp; KPIs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86B778D0-E698-258B-D942-BBF199B9278B}"/>
              </a:ext>
            </a:extLst>
          </p:cNvPr>
          <p:cNvSpPr/>
          <p:nvPr/>
        </p:nvSpPr>
        <p:spPr>
          <a:xfrm>
            <a:off x="4895616" y="3500131"/>
            <a:ext cx="1230283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Solution </a:t>
            </a:r>
            <a:r>
              <a:rPr lang="de-DE" sz="1200" err="1"/>
              <a:t>proposal</a:t>
            </a:r>
            <a:r>
              <a:rPr lang="de-DE" sz="1200"/>
              <a:t> 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7D5994A7-C6DD-D165-B89D-63E5DB66A987}"/>
              </a:ext>
            </a:extLst>
          </p:cNvPr>
          <p:cNvSpPr/>
          <p:nvPr/>
        </p:nvSpPr>
        <p:spPr>
          <a:xfrm>
            <a:off x="1706082" y="5326929"/>
            <a:ext cx="1313411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TRMZ Company </a:t>
            </a:r>
            <a:r>
              <a:rPr lang="de-DE" sz="1200" err="1"/>
              <a:t>presentation</a:t>
            </a:r>
            <a:endParaRPr lang="de-DE" sz="120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AA6AD678-CD2F-DF2B-B9FA-EB52B5F5D3CB}"/>
              </a:ext>
            </a:extLst>
          </p:cNvPr>
          <p:cNvSpPr/>
          <p:nvPr/>
        </p:nvSpPr>
        <p:spPr>
          <a:xfrm>
            <a:off x="3912781" y="4159183"/>
            <a:ext cx="1313411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TRMZ </a:t>
            </a:r>
            <a:r>
              <a:rPr lang="de-DE" sz="1200" err="1"/>
              <a:t>Product</a:t>
            </a:r>
            <a:r>
              <a:rPr lang="de-DE" sz="1200"/>
              <a:t> </a:t>
            </a:r>
          </a:p>
          <a:p>
            <a:pPr algn="ctr"/>
            <a:r>
              <a:rPr lang="de-DE" sz="1200" err="1"/>
              <a:t>selection</a:t>
            </a:r>
            <a:endParaRPr lang="de-DE" sz="120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58BEB7E-A052-6D82-E1BE-DACDFCB6E640}"/>
              </a:ext>
            </a:extLst>
          </p:cNvPr>
          <p:cNvSpPr/>
          <p:nvPr/>
        </p:nvSpPr>
        <p:spPr>
          <a:xfrm>
            <a:off x="1580681" y="5133144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B62AD4A-7F09-F06D-94F7-57820D30C65C}"/>
              </a:ext>
            </a:extLst>
          </p:cNvPr>
          <p:cNvSpPr/>
          <p:nvPr/>
        </p:nvSpPr>
        <p:spPr>
          <a:xfrm>
            <a:off x="2839742" y="4576575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2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C9BD15F-505A-D7B2-6625-C1874ED20D49}"/>
              </a:ext>
            </a:extLst>
          </p:cNvPr>
          <p:cNvSpPr/>
          <p:nvPr/>
        </p:nvSpPr>
        <p:spPr>
          <a:xfrm>
            <a:off x="3733031" y="4014954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3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162D0B42-5A1F-6F23-33C3-C5A8D2267010}"/>
              </a:ext>
            </a:extLst>
          </p:cNvPr>
          <p:cNvSpPr txBox="1"/>
          <p:nvPr/>
        </p:nvSpPr>
        <p:spPr>
          <a:xfrm>
            <a:off x="2418371" y="5678592"/>
            <a:ext cx="739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000">
                <a:solidFill>
                  <a:schemeClr val="bg1">
                    <a:lumMod val="65000"/>
                  </a:schemeClr>
                </a:solidFill>
                <a:latin typeface="Source Sans Pro SemiBold"/>
                <a:ea typeface="Source Sans Pro SemiBold"/>
              </a:defRPr>
            </a:lvl1pPr>
          </a:lstStyle>
          <a:p>
            <a:endParaRPr lang="de-DE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1F7A0407-4571-5475-443F-E2C648B3B86F}"/>
              </a:ext>
            </a:extLst>
          </p:cNvPr>
          <p:cNvSpPr txBox="1"/>
          <p:nvPr/>
        </p:nvSpPr>
        <p:spPr>
          <a:xfrm>
            <a:off x="3733031" y="5080730"/>
            <a:ext cx="739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>
                <a:solidFill>
                  <a:schemeClr val="bg1">
                    <a:lumMod val="65000"/>
                  </a:schemeClr>
                </a:solidFill>
                <a:latin typeface="Source Sans Pro SemiBold"/>
                <a:ea typeface="Source Sans Pro SemiBold"/>
              </a:defRPr>
            </a:lvl1pPr>
          </a:lstStyle>
          <a:p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767C9E62-1640-3FEF-4930-2613694F5026}"/>
              </a:ext>
            </a:extLst>
          </p:cNvPr>
          <p:cNvSpPr txBox="1"/>
          <p:nvPr/>
        </p:nvSpPr>
        <p:spPr>
          <a:xfrm>
            <a:off x="5489975" y="3841362"/>
            <a:ext cx="739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1000">
              <a:solidFill>
                <a:schemeClr val="bg1">
                  <a:lumMod val="65000"/>
                </a:schemeClr>
              </a:solidFill>
              <a:latin typeface="Source Sans Pro SemiBold"/>
              <a:ea typeface="Source Sans Pro SemiBold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0D0EDAE-1EF5-1D76-3F67-D3F87401F564}"/>
              </a:ext>
            </a:extLst>
          </p:cNvPr>
          <p:cNvSpPr/>
          <p:nvPr/>
        </p:nvSpPr>
        <p:spPr>
          <a:xfrm>
            <a:off x="4781492" y="3303228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4</a:t>
            </a:r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7C8F259C-6582-DB52-9323-213F8CA8A94D}"/>
              </a:ext>
            </a:extLst>
          </p:cNvPr>
          <p:cNvCxnSpPr/>
          <p:nvPr/>
        </p:nvCxnSpPr>
        <p:spPr>
          <a:xfrm>
            <a:off x="1156138" y="6064469"/>
            <a:ext cx="106685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50883DAC-DE9D-B97B-6D2C-487E373C18E9}"/>
              </a:ext>
            </a:extLst>
          </p:cNvPr>
          <p:cNvCxnSpPr>
            <a:cxnSpLocks/>
          </p:cNvCxnSpPr>
          <p:nvPr/>
        </p:nvCxnSpPr>
        <p:spPr>
          <a:xfrm flipV="1">
            <a:off x="1308538" y="1761058"/>
            <a:ext cx="0" cy="4455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B9FD08D8-9CD0-6E0C-F808-BF402D45EFD6}"/>
              </a:ext>
            </a:extLst>
          </p:cNvPr>
          <p:cNvSpPr txBox="1"/>
          <p:nvPr/>
        </p:nvSpPr>
        <p:spPr>
          <a:xfrm>
            <a:off x="10562897" y="6064469"/>
            <a:ext cx="977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/>
              <a:t>time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C6E446D-CB1A-D6E7-F1F8-89A2FEA8E830}"/>
              </a:ext>
            </a:extLst>
          </p:cNvPr>
          <p:cNvSpPr txBox="1"/>
          <p:nvPr/>
        </p:nvSpPr>
        <p:spPr>
          <a:xfrm rot="16200000">
            <a:off x="397107" y="2389038"/>
            <a:ext cx="1468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400" err="1"/>
              <a:t>commitment</a:t>
            </a:r>
            <a:endParaRPr lang="de-DE" sz="14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84506D-9A71-5116-7D45-5F30A7963276}"/>
              </a:ext>
            </a:extLst>
          </p:cNvPr>
          <p:cNvSpPr txBox="1">
            <a:spLocks/>
          </p:cNvSpPr>
          <p:nvPr/>
        </p:nvSpPr>
        <p:spPr>
          <a:xfrm>
            <a:off x="561257" y="1000187"/>
            <a:ext cx="11114806" cy="444889"/>
          </a:xfrm>
          <a:prstGeom prst="rect">
            <a:avLst/>
          </a:prstGeom>
        </p:spPr>
        <p:txBody>
          <a:bodyPr vert="horz" lIns="0" tIns="45720" rIns="91440" bIns="45720" rtlCol="0" anchor="t" anchorCtr="0">
            <a:no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rgbClr val="3C3C3C"/>
                </a:solidFill>
                <a:latin typeface="Klavika medium"/>
                <a:ea typeface="+mj-ea"/>
                <a:cs typeface="+mj-cs"/>
              </a:defRPr>
            </a:lvl1pPr>
          </a:lstStyle>
          <a:p>
            <a:r>
              <a:rPr lang="de-DE" dirty="0"/>
              <a:t>TRMZ </a:t>
            </a:r>
            <a:r>
              <a:rPr lang="de-DE" dirty="0" err="1"/>
              <a:t>consulting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understanding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relevant </a:t>
            </a:r>
            <a:r>
              <a:rPr lang="de-DE" dirty="0" err="1"/>
              <a:t>requirements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C82005C-E494-24BF-844F-2B77CD150833}"/>
              </a:ext>
            </a:extLst>
          </p:cNvPr>
          <p:cNvSpPr/>
          <p:nvPr/>
        </p:nvSpPr>
        <p:spPr>
          <a:xfrm>
            <a:off x="8225323" y="1907446"/>
            <a:ext cx="1230283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New </a:t>
            </a:r>
            <a:r>
              <a:rPr lang="de-DE" sz="1200" dirty="0" err="1"/>
              <a:t>product</a:t>
            </a:r>
            <a:endParaRPr lang="de-DE" sz="1200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EF65275-AC8F-1955-E09A-D854DAC8A0D7}"/>
              </a:ext>
            </a:extLst>
          </p:cNvPr>
          <p:cNvSpPr/>
          <p:nvPr/>
        </p:nvSpPr>
        <p:spPr>
          <a:xfrm>
            <a:off x="8225323" y="2463967"/>
            <a:ext cx="1230283" cy="3740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Specific</a:t>
            </a:r>
            <a:r>
              <a:rPr lang="de-DE" sz="1000" b="1" dirty="0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 </a:t>
            </a:r>
            <a:r>
              <a:rPr lang="de-DE" sz="1000" b="1" dirty="0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to</a:t>
            </a:r>
            <a:r>
              <a:rPr lang="de-DE" sz="1000" b="1" dirty="0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 </a:t>
            </a:r>
            <a:r>
              <a:rPr lang="de-DE" sz="1000" b="1" dirty="0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product</a:t>
            </a:r>
            <a:endParaRPr lang="de-DE" sz="1000" b="1" dirty="0">
              <a:solidFill>
                <a:schemeClr val="bg1"/>
              </a:solidFill>
              <a:latin typeface="Source Sans Pro Light" panose="020B0503030403020204" pitchFamily="34" charset="0"/>
              <a:ea typeface="Source Sans Pro Light" panose="020B0503030403020204" pitchFamily="34" charset="0"/>
              <a:cs typeface="Arial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20FB4B4-B913-850D-6890-6F476DB055FB}"/>
              </a:ext>
            </a:extLst>
          </p:cNvPr>
          <p:cNvSpPr/>
          <p:nvPr/>
        </p:nvSpPr>
        <p:spPr>
          <a:xfrm>
            <a:off x="9721770" y="2447042"/>
            <a:ext cx="2109159" cy="37407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Custom Expansion </a:t>
            </a:r>
            <a:r>
              <a:rPr lang="de-DE" sz="1000" b="1" dirty="0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Offer</a:t>
            </a:r>
            <a:r>
              <a:rPr lang="de-DE" sz="1000" b="1" dirty="0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 &amp; Start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DC7F530-7F28-B3D9-DF2F-833AE73CFDCE}"/>
              </a:ext>
            </a:extLst>
          </p:cNvPr>
          <p:cNvSpPr/>
          <p:nvPr/>
        </p:nvSpPr>
        <p:spPr>
          <a:xfrm>
            <a:off x="9717063" y="1902418"/>
            <a:ext cx="2113866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Joint  </a:t>
            </a:r>
            <a:r>
              <a:rPr lang="de-DE" sz="1200" dirty="0" err="1"/>
              <a:t>Dev</a:t>
            </a:r>
            <a:r>
              <a:rPr lang="de-DE" sz="1200" dirty="0"/>
              <a:t> </a:t>
            </a:r>
            <a:r>
              <a:rPr lang="de-DE" sz="1200" dirty="0" err="1"/>
              <a:t>Offer</a:t>
            </a:r>
            <a:r>
              <a:rPr lang="de-DE" sz="1200" dirty="0"/>
              <a:t> &amp; Start</a:t>
            </a:r>
          </a:p>
        </p:txBody>
      </p:sp>
    </p:spTree>
    <p:extLst>
      <p:ext uri="{BB962C8B-B14F-4D97-AF65-F5344CB8AC3E}">
        <p14:creationId xmlns:p14="http://schemas.microsoft.com/office/powerpoint/2010/main" val="262879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7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AA6F1-ACE2-C190-E3FE-71CB7B293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1">
            <a:extLst>
              <a:ext uri="{FF2B5EF4-FFF2-40B4-BE49-F238E27FC236}">
                <a16:creationId xmlns:a16="http://schemas.microsoft.com/office/drawing/2014/main" id="{8441A6A7-75C1-B886-1B34-7D84C98C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452" y="6452133"/>
            <a:ext cx="4114800" cy="220652"/>
          </a:xfrm>
        </p:spPr>
        <p:txBody>
          <a:bodyPr/>
          <a:lstStyle/>
          <a:p>
            <a:r>
              <a:rPr lang="de-DE"/>
              <a:t>Tiramizoo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5B71BBF-F128-0239-E85C-1BBE35E6027F}"/>
              </a:ext>
            </a:extLst>
          </p:cNvPr>
          <p:cNvSpPr txBox="1">
            <a:spLocks/>
          </p:cNvSpPr>
          <p:nvPr/>
        </p:nvSpPr>
        <p:spPr>
          <a:xfrm>
            <a:off x="554869" y="162000"/>
            <a:ext cx="6858464" cy="444888"/>
          </a:xfrm>
          <a:prstGeom prst="rect">
            <a:avLst/>
          </a:prstGeom>
        </p:spPr>
        <p:txBody>
          <a:bodyPr vert="horz" lIns="0" tIns="45720" rIns="91440" bIns="45720" rtlCol="0" anchor="t" anchorCtr="0">
            <a:norm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000" b="1">
                <a:solidFill>
                  <a:srgbClr val="3C3C3C"/>
                </a:solidFill>
                <a:latin typeface="Klavika medium"/>
                <a:ea typeface="Source Sans Pro SemiBold" panose="020B0503030403020204" pitchFamily="34" charset="0"/>
                <a:cs typeface="+mj-cs"/>
              </a:defRPr>
            </a:lvl1pPr>
          </a:lstStyle>
          <a:p>
            <a:pPr marL="457200" indent="-457200">
              <a:buClr>
                <a:srgbClr val="86BC25"/>
              </a:buClr>
              <a:buFont typeface="+mj-lt"/>
              <a:buAutoNum type="arabicPeriod" startAt="2"/>
            </a:pPr>
            <a:r>
              <a:rPr lang="de-DE"/>
              <a:t>MAIN TASKS</a:t>
            </a:r>
          </a:p>
          <a:p>
            <a:pPr marL="457200" indent="-457200">
              <a:buClr>
                <a:srgbClr val="86BC25"/>
              </a:buClr>
              <a:buFont typeface="+mj-lt"/>
              <a:buAutoNum type="arabicPeriod" startAt="2"/>
            </a:pPr>
            <a:endParaRPr lang="de-DE"/>
          </a:p>
        </p:txBody>
      </p:sp>
      <p:sp>
        <p:nvSpPr>
          <p:cNvPr id="3" name="Google Shape;531;p66">
            <a:extLst>
              <a:ext uri="{FF2B5EF4-FFF2-40B4-BE49-F238E27FC236}">
                <a16:creationId xmlns:a16="http://schemas.microsoft.com/office/drawing/2014/main" id="{D0A8F3FE-36B6-ABDF-2731-687C3EDB971D}"/>
              </a:ext>
            </a:extLst>
          </p:cNvPr>
          <p:cNvSpPr/>
          <p:nvPr/>
        </p:nvSpPr>
        <p:spPr>
          <a:xfrm>
            <a:off x="2511972" y="1838375"/>
            <a:ext cx="4037973" cy="37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00" b="1" u="sng" kern="100" dirty="0">
                <a:latin typeface="Calibri" panose="020F0502020204030204" pitchFamily="34" charset="0"/>
                <a:cs typeface="Times New Roman" panose="02020603050405020304" pitchFamily="18" charset="0"/>
                <a:sym typeface="Average"/>
              </a:rPr>
              <a:t>The TRMZ Requirements Analysis:</a:t>
            </a:r>
          </a:p>
          <a:p>
            <a:endParaRPr lang="en-GB" sz="1700" kern="100" dirty="0">
              <a:latin typeface="Calibri" panose="020F0502020204030204" pitchFamily="34" charset="0"/>
              <a:cs typeface="Times New Roman" panose="02020603050405020304" pitchFamily="18" charset="0"/>
              <a:sym typeface="Average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700" kern="100" dirty="0">
                <a:latin typeface="Calibri" panose="020F0502020204030204" pitchFamily="34" charset="0"/>
                <a:cs typeface="Times New Roman" panose="02020603050405020304" pitchFamily="18" charset="0"/>
                <a:sym typeface="Average"/>
              </a:rPr>
              <a:t>How do you work today?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700" kern="100" dirty="0">
                <a:latin typeface="Calibri" panose="020F0502020204030204" pitchFamily="34" charset="0"/>
                <a:cs typeface="Times New Roman" panose="02020603050405020304" pitchFamily="18" charset="0"/>
                <a:sym typeface="Average"/>
              </a:rPr>
              <a:t>Why do you want to change (now)?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700" kern="100" dirty="0">
                <a:latin typeface="Calibri" panose="020F0502020204030204" pitchFamily="34" charset="0"/>
                <a:cs typeface="Times New Roman" panose="02020603050405020304" pitchFamily="18" charset="0"/>
                <a:sym typeface="Average"/>
              </a:rPr>
              <a:t>How do you want to work in the future?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700" kern="100" dirty="0">
                <a:latin typeface="Calibri" panose="020F0502020204030204" pitchFamily="34" charset="0"/>
                <a:cs typeface="Times New Roman" panose="02020603050405020304" pitchFamily="18" charset="0"/>
                <a:sym typeface="Average"/>
              </a:rPr>
              <a:t>How do you want to measure the success of the future state?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700" kern="100" dirty="0">
                <a:latin typeface="Calibri" panose="020F0502020204030204" pitchFamily="34" charset="0"/>
                <a:cs typeface="Times New Roman" panose="02020603050405020304" pitchFamily="18" charset="0"/>
                <a:sym typeface="Average"/>
              </a:rPr>
              <a:t>What is your intended saving / revenue increase or budget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700" kern="100" dirty="0">
                <a:latin typeface="Calibri" panose="020F0502020204030204" pitchFamily="34" charset="0"/>
                <a:cs typeface="Times New Roman" panose="02020603050405020304" pitchFamily="18" charset="0"/>
                <a:sym typeface="Average"/>
              </a:rPr>
              <a:t>Timeline 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AA1422D-6F86-6A8F-D00B-1CD773AE9093}"/>
              </a:ext>
            </a:extLst>
          </p:cNvPr>
          <p:cNvSpPr/>
          <p:nvPr/>
        </p:nvSpPr>
        <p:spPr>
          <a:xfrm>
            <a:off x="818203" y="1838375"/>
            <a:ext cx="1313411" cy="374073"/>
          </a:xfrm>
          <a:prstGeom prst="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Analysis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customer</a:t>
            </a:r>
            <a:r>
              <a:rPr lang="de-DE" sz="1000" dirty="0"/>
              <a:t> </a:t>
            </a:r>
            <a:r>
              <a:rPr lang="de-DE" sz="1000" dirty="0" err="1"/>
              <a:t>Requirements</a:t>
            </a:r>
            <a:r>
              <a:rPr lang="de-DE" sz="1000" dirty="0"/>
              <a:t> &amp; KPIs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F36A7E7-5689-B450-7E03-64C3BA2A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05" y="1955626"/>
            <a:ext cx="4438958" cy="335862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FFB6F22-73FA-9175-BBB4-B53DCA41600A}"/>
              </a:ext>
            </a:extLst>
          </p:cNvPr>
          <p:cNvSpPr/>
          <p:nvPr/>
        </p:nvSpPr>
        <p:spPr>
          <a:xfrm>
            <a:off x="638452" y="1667168"/>
            <a:ext cx="291767" cy="288458"/>
          </a:xfrm>
          <a:prstGeom prst="ellipse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Light" panose="020B0503030403020204" pitchFamily="34" charset="0"/>
                <a:ea typeface="Source Sans Pro Light" panose="020B0503030403020204" pitchFamily="34" charset="0"/>
                <a:cs typeface="Arial"/>
              </a:rPr>
              <a:t>2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1D5EA9C-9455-A8EC-8BB3-A23F9ED5F5C1}"/>
              </a:ext>
            </a:extLst>
          </p:cNvPr>
          <p:cNvSpPr txBox="1">
            <a:spLocks/>
          </p:cNvSpPr>
          <p:nvPr/>
        </p:nvSpPr>
        <p:spPr>
          <a:xfrm>
            <a:off x="561257" y="1000187"/>
            <a:ext cx="11114806" cy="444889"/>
          </a:xfrm>
          <a:prstGeom prst="rect">
            <a:avLst/>
          </a:prstGeom>
        </p:spPr>
        <p:txBody>
          <a:bodyPr vert="horz" lIns="0" tIns="45720" rIns="91440" bIns="45720" rtlCol="0" anchor="t" anchorCtr="0">
            <a:no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400" b="1">
                <a:solidFill>
                  <a:srgbClr val="3C3C3C"/>
                </a:solidFill>
                <a:latin typeface="Klavika medium"/>
                <a:ea typeface="+mj-ea"/>
                <a:cs typeface="+mj-cs"/>
              </a:defRPr>
            </a:lvl1pPr>
          </a:lstStyle>
          <a:p>
            <a:r>
              <a:rPr lang="de-DE" dirty="0"/>
              <a:t>TRMZ </a:t>
            </a:r>
            <a:r>
              <a:rPr lang="de-DE" dirty="0" err="1"/>
              <a:t>consulting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understanding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relevant </a:t>
            </a:r>
            <a:r>
              <a:rPr lang="de-DE" dirty="0" err="1"/>
              <a:t>requirements</a:t>
            </a:r>
            <a:endParaRPr lang="de-DE" dirty="0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56D0A785-A02B-5A92-DDF2-FDF4DEA262BD}"/>
              </a:ext>
            </a:extLst>
          </p:cNvPr>
          <p:cNvSpPr/>
          <p:nvPr/>
        </p:nvSpPr>
        <p:spPr>
          <a:xfrm rot="1196916">
            <a:off x="10087239" y="2210088"/>
            <a:ext cx="1588773" cy="552117"/>
          </a:xfrm>
          <a:prstGeom prst="roundRect">
            <a:avLst/>
          </a:prstGeom>
          <a:solidFill>
            <a:srgbClr val="8CD20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Single Source </a:t>
            </a:r>
            <a:r>
              <a:rPr lang="de-DE" sz="1400" b="1" dirty="0" err="1"/>
              <a:t>of</a:t>
            </a:r>
            <a:r>
              <a:rPr lang="de-DE" sz="1400" b="1" dirty="0"/>
              <a:t> Truth</a:t>
            </a:r>
          </a:p>
        </p:txBody>
      </p:sp>
    </p:spTree>
    <p:extLst>
      <p:ext uri="{BB962C8B-B14F-4D97-AF65-F5344CB8AC3E}">
        <p14:creationId xmlns:p14="http://schemas.microsoft.com/office/powerpoint/2010/main" val="259955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5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C05C6D9AE03094AB424113BCA66FD6B" ma:contentTypeVersion="13" ma:contentTypeDescription="Ein neues Dokument erstellen." ma:contentTypeScope="" ma:versionID="6d4afe9e69c733d2bb9dfe1fecc3dfa3">
  <xsd:schema xmlns:xsd="http://www.w3.org/2001/XMLSchema" xmlns:xs="http://www.w3.org/2001/XMLSchema" xmlns:p="http://schemas.microsoft.com/office/2006/metadata/properties" xmlns:ns3="6f3ab60b-7b4a-4876-86ae-fed6be99b23e" xmlns:ns4="c7d952df-44fc-44c3-a674-29598293fdc2" targetNamespace="http://schemas.microsoft.com/office/2006/metadata/properties" ma:root="true" ma:fieldsID="e61eb64e5149b1bd614dd90a79de5c48" ns3:_="" ns4:_="">
    <xsd:import namespace="6f3ab60b-7b4a-4876-86ae-fed6be99b23e"/>
    <xsd:import namespace="c7d952df-44fc-44c3-a674-29598293fdc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3ab60b-7b4a-4876-86ae-fed6be99b23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d952df-44fc-44c3-a674-29598293fd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F41C1D-830F-4286-A851-4D8620EC28ED}">
  <ds:schemaRefs>
    <ds:schemaRef ds:uri="http://www.w3.org/XML/1998/namespace"/>
    <ds:schemaRef ds:uri="http://schemas.microsoft.com/office/2006/documentManagement/types"/>
    <ds:schemaRef ds:uri="http://purl.org/dc/dcmitype/"/>
    <ds:schemaRef ds:uri="6f3ab60b-7b4a-4876-86ae-fed6be99b23e"/>
    <ds:schemaRef ds:uri="c7d952df-44fc-44c3-a674-29598293fdc2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0B9B991-86A1-4A8E-ABA9-2B97A6491227}">
  <ds:schemaRefs>
    <ds:schemaRef ds:uri="6f3ab60b-7b4a-4876-86ae-fed6be99b23e"/>
    <ds:schemaRef ds:uri="c7d952df-44fc-44c3-a674-29598293fd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954D4B0-32EF-4832-B6AF-9E21724D8D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215</Words>
  <Application>Microsoft Macintosh PowerPoint</Application>
  <PresentationFormat>Breitbild</PresentationFormat>
  <Paragraphs>80</Paragraphs>
  <Slides>6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3" baseType="lpstr">
      <vt:lpstr>Arial</vt:lpstr>
      <vt:lpstr>Calibri</vt:lpstr>
      <vt:lpstr>Klavika light</vt:lpstr>
      <vt:lpstr>Source Sans Pro Light</vt:lpstr>
      <vt:lpstr>Source Sans Pro SemiBold</vt:lpstr>
      <vt:lpstr>Source Sans Pro SemiBold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Olivia Sado</dc:creator>
  <cp:lastModifiedBy>Philipp Walz</cp:lastModifiedBy>
  <cp:revision>4</cp:revision>
  <cp:lastPrinted>2023-01-18T10:29:54Z</cp:lastPrinted>
  <dcterms:created xsi:type="dcterms:W3CDTF">2019-04-15T09:23:57Z</dcterms:created>
  <dcterms:modified xsi:type="dcterms:W3CDTF">2026-01-28T11:07:08Z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0x010100AC05C6D9AE03094AB424113BCA66FD6B</vt:lpwstr>
  </property>
</Properties>
</file>